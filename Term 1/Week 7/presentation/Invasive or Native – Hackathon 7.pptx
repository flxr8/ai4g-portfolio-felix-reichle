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Nunito Sans" pitchFamily="34" charset="0"/>
      <p:regular r:id="rId18"/>
      <p:bold r:id="rId19"/>
      <p:italic r:id="rId20"/>
      <p:boldItalic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ourselves. One sentence: we built a field ID helper for invasive plants in the Netherlands, trained with Roboflow.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invasive plants spread along Dutch verges, parks and waterways: giant hogweed, Japanese knotweed and Himalayan balsam. Each has a harmless native look-alike. Finding them early is far cheaper than removing them later. Giant hogweed is also a health risk: its sap burns skin in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our user has is not “what species is this?” but “is it safe, and should I report it?”. That is a safety decision, which is why the app is built around unequal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on species and let the app map species to a verdict. 27 bindweed flower close-ups were swapped for leaf photos so the model would not learn “white flower = bindweed”.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Roboflow trains and hosts the model; our Streamlit app calls its API for every photo. The safety rules live in plantid.py and are easy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Streamlit link on a phone, tab “Take a photo”. Both photos are from our held-out test set, so the model never saw them. A photo of a screen is harder than a real plant (glare, moiré, colour shift), which is a fair test of messy field photos. Backup if the Wi-Fi fails: screenshots of both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this slide with the app on the phone. Expected: Invasive, do not touch. Point out the purple-spotted stem, the clue that separates it from common hogweed. This photo is from our held-out test set, so the model never saw it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this slide with the app. Expected: Native. If the giant hogweed score is 20% or more, the app warns anyway: that is our safety rule working, not a bug, so explain it if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held-out test runs evaluate.py, which sends every photo through the model exactly like the app does, safety rules included. The number to focus on: how often a giant hogweed was called 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card is our ethical reflection. Biggest honest limitation: the seasons. A volunteer in October photographs dead stems, which our data barely contains, and the model may partly have learned “dead stems = invasive”. Next step: more winter photos and an “other plant”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lesson we would defend hardest: designing for unequal mistakes.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F3B2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920"/>
            <a:ext cx="10566400" cy="4145280"/>
          </a:xfrm>
          <a:prstGeom prst="rect">
            <a:avLst/>
          </a:prstGeom>
          <a:noFill/>
          <a:ln/>
        </p:spPr>
        <p:txBody>
          <a:bodyPr wrap="square" lIns="0" tIns="0" rIns="0" bIns="0" rtlCol="0" anchor="t"/>
          <a:lstStyle>
            <a:lvl1pPr algn="l" indent="0" marL="0">
              <a:lnSpc>
                <a:spcPct val="140000"/>
              </a:lnSpc>
              <a:buNone/>
              <a:defRPr lang="en-US" sz="1600" dirty="0">
                <a:solidFill>
                  <a:srgbClr val="1F3B2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F3B2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920"/>
            <a:ext cx="10566400" cy="4145280"/>
          </a:xfrm>
          <a:prstGeom prst="rect">
            <a:avLst/>
          </a:prstGeom>
          <a:noFill/>
          <a:ln/>
        </p:spPr>
        <p:txBody>
          <a:bodyPr wrap="square" lIns="0" tIns="0" rIns="0" bIns="0" rtlCol="0" anchor="t"/>
          <a:lstStyle>
            <a:lvl1pPr algn="l" indent="0" marL="0">
              <a:lnSpc>
                <a:spcPct val="140000"/>
              </a:lnSpc>
              <a:buNone/>
              <a:defRPr lang="en-US" sz="1600" dirty="0">
                <a:solidFill>
                  <a:srgbClr val="1F3B2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2D"/>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E9A84A"/>
                </a:solidFill>
                <a:latin typeface="Nunito Sans" pitchFamily="34" charset="0"/>
                <a:ea typeface="Nunito Sans" pitchFamily="34" charset="-122"/>
                <a:cs typeface="Nunito Sans" pitchFamily="34" charset="-120"/>
              </a:rPr>
              <a:t>HACKATHON 7 · EYES ON EARTH · SDG 15 LIFE ON LAND</a:t>
            </a:r>
            <a:endParaRPr lang="en-US" sz="1600" dirty="0"/>
          </a:p>
        </p:txBody>
      </p:sp>
      <p:sp>
        <p:nvSpPr>
          <p:cNvPr id="3" name="Text 1"/>
          <p:cNvSpPr/>
          <p:nvPr>
            <p:ph type="title"/>
          </p:nvPr>
        </p:nvSpPr>
        <p:spPr>
          <a:xfrm>
            <a:off x="812800" y="25641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A"/>
                </a:solidFill>
                <a:latin typeface="Domine" pitchFamily="18" charset="0"/>
                <a:ea typeface="Domine" pitchFamily="18" charset="-122"/>
                <a:cs typeface="Domine" pitchFamily="18" charset="-120"/>
              </a:rPr>
              <a:t>Invasive or Native?</a:t>
            </a:r>
            <a:endParaRPr lang="en-US" sz="6000" dirty="0"/>
          </a:p>
        </p:txBody>
      </p:sp>
      <p:sp>
        <p:nvSpPr>
          <p:cNvPr id="4" name="Text 2"/>
          <p:cNvSpPr/>
          <p:nvPr/>
        </p:nvSpPr>
        <p:spPr>
          <a:xfrm>
            <a:off x="812800" y="356743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8CC"/>
                </a:solidFill>
                <a:latin typeface="Nunito Sans" pitchFamily="34" charset="0"/>
                <a:ea typeface="Nunito Sans" pitchFamily="34" charset="-122"/>
                <a:cs typeface="Nunito Sans" pitchFamily="34" charset="-120"/>
              </a:rPr>
              <a:t>A phone app that tells a field worker whether a plant looks like an invasive species or its harmless look-alike, before they touch it.</a:t>
            </a:r>
            <a:endParaRPr lang="en-US" sz="2200" dirty="0"/>
          </a:p>
        </p:txBody>
      </p:sp>
      <p:sp>
        <p:nvSpPr>
          <p:cNvPr id="5" name="Text 3"/>
          <p:cNvSpPr/>
          <p:nvPr/>
        </p:nvSpPr>
        <p:spPr>
          <a:xfrm>
            <a:off x="812800" y="5760720"/>
            <a:ext cx="29911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3EA"/>
                </a:solidFill>
                <a:latin typeface="Nunito Sans" pitchFamily="34" charset="0"/>
                <a:ea typeface="Nunito Sans" pitchFamily="34" charset="-122"/>
                <a:cs typeface="Nunito Sans" pitchFamily="34" charset="-120"/>
              </a:rPr>
              <a:t>Felix Reichle · Ahmet Ünlü</a:t>
            </a:r>
            <a:endParaRPr lang="en-US" sz="1600" dirty="0"/>
          </a:p>
        </p:txBody>
      </p:sp>
      <p:sp>
        <p:nvSpPr>
          <p:cNvPr id="6" name="Text 4"/>
          <p:cNvSpPr/>
          <p:nvPr/>
        </p:nvSpPr>
        <p:spPr>
          <a:xfrm>
            <a:off x="8850884" y="5831840"/>
            <a:ext cx="252831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C"/>
                </a:solidFill>
                <a:latin typeface="Nunito Sans" pitchFamily="34" charset="0"/>
                <a:ea typeface="Nunito Sans" pitchFamily="34" charset="-122"/>
                <a:cs typeface="Nunito Sans" pitchFamily="34" charset="-120"/>
              </a:rPr>
              <a:t>Built with Roboflow · Streamlit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THE PROBLEM</a:t>
            </a:r>
            <a:endParaRPr lang="en-US" sz="1200" dirty="0"/>
          </a:p>
        </p:txBody>
      </p:sp>
      <p:sp>
        <p:nvSpPr>
          <p:cNvPr id="3" name="Text 1"/>
          <p:cNvSpPr/>
          <p:nvPr>
            <p:ph type="title"/>
          </p:nvPr>
        </p:nvSpPr>
        <p:spPr>
          <a:xfrm>
            <a:off x="812800" y="11277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A dangerous plant that looks harmless</a:t>
            </a:r>
            <a:endParaRPr lang="en-US" sz="3200" dirty="0"/>
          </a:p>
        </p:txBody>
      </p:sp>
      <p:sp>
        <p:nvSpPr>
          <p:cNvPr id="4" name="Shape 2"/>
          <p:cNvSpPr/>
          <p:nvPr/>
        </p:nvSpPr>
        <p:spPr>
          <a:xfrm>
            <a:off x="815975" y="1953895"/>
            <a:ext cx="3380317" cy="1861397"/>
          </a:xfrm>
          <a:prstGeom prst="roundRect">
            <a:avLst>
              <a:gd name="adj" fmla="val 5288"/>
            </a:avLst>
          </a:prstGeom>
          <a:solidFill>
            <a:srgbClr val="FFFDF7"/>
          </a:solidFill>
          <a:ln w="6350">
            <a:solidFill>
              <a:srgbClr val="DCD8C8"/>
            </a:solidFill>
            <a:prstDash val="solid"/>
          </a:ln>
        </p:spPr>
      </p:sp>
      <p:sp>
        <p:nvSpPr>
          <p:cNvPr id="5" name="Text 3"/>
          <p:cNvSpPr/>
          <p:nvPr/>
        </p:nvSpPr>
        <p:spPr>
          <a:xfrm>
            <a:off x="1071033" y="2208954"/>
            <a:ext cx="2956306"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3B2D"/>
                </a:solidFill>
                <a:latin typeface="Domine" pitchFamily="18" charset="0"/>
                <a:ea typeface="Domine" pitchFamily="18" charset="-122"/>
                <a:cs typeface="Domine" pitchFamily="18" charset="-120"/>
              </a:rPr>
              <a:t>1,358</a:t>
            </a:r>
            <a:endParaRPr lang="en-US" sz="3600" dirty="0"/>
          </a:p>
        </p:txBody>
      </p:sp>
      <p:sp>
        <p:nvSpPr>
          <p:cNvPr id="6" name="Text 4"/>
          <p:cNvSpPr/>
          <p:nvPr/>
        </p:nvSpPr>
        <p:spPr>
          <a:xfrm>
            <a:off x="1071033" y="2813473"/>
            <a:ext cx="295630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5A4A"/>
                </a:solidFill>
                <a:latin typeface="Nunito Sans" pitchFamily="34" charset="0"/>
                <a:ea typeface="Nunito Sans" pitchFamily="34" charset="-122"/>
                <a:cs typeface="Nunito Sans" pitchFamily="34" charset="-120"/>
              </a:rPr>
              <a:t>exotic species have established themselves in the Netherlands, 416 of them plants</a:t>
            </a:r>
            <a:endParaRPr lang="en-US" sz="1400" dirty="0"/>
          </a:p>
        </p:txBody>
      </p:sp>
      <p:sp>
        <p:nvSpPr>
          <p:cNvPr id="7" name="Shape 5"/>
          <p:cNvSpPr/>
          <p:nvPr/>
        </p:nvSpPr>
        <p:spPr>
          <a:xfrm>
            <a:off x="4405842" y="1953895"/>
            <a:ext cx="3380317" cy="1861397"/>
          </a:xfrm>
          <a:prstGeom prst="roundRect">
            <a:avLst>
              <a:gd name="adj" fmla="val 5288"/>
            </a:avLst>
          </a:prstGeom>
          <a:solidFill>
            <a:srgbClr val="FFFDF7"/>
          </a:solidFill>
          <a:ln w="6350">
            <a:solidFill>
              <a:srgbClr val="DCD8C8"/>
            </a:solidFill>
            <a:prstDash val="solid"/>
          </a:ln>
        </p:spPr>
      </p:sp>
      <p:sp>
        <p:nvSpPr>
          <p:cNvPr id="8" name="Text 6"/>
          <p:cNvSpPr/>
          <p:nvPr/>
        </p:nvSpPr>
        <p:spPr>
          <a:xfrm>
            <a:off x="4660900" y="2208954"/>
            <a:ext cx="2956306"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3B2D"/>
                </a:solidFill>
                <a:latin typeface="Domine" pitchFamily="18" charset="0"/>
                <a:ea typeface="Domine" pitchFamily="18" charset="-122"/>
                <a:cs typeface="Domine" pitchFamily="18" charset="-120"/>
              </a:rPr>
              <a:t>€1.1–3.1 bn</a:t>
            </a:r>
            <a:endParaRPr lang="en-US" sz="3600" dirty="0"/>
          </a:p>
        </p:txBody>
      </p:sp>
      <p:sp>
        <p:nvSpPr>
          <p:cNvPr id="9" name="Text 7"/>
          <p:cNvSpPr/>
          <p:nvPr/>
        </p:nvSpPr>
        <p:spPr>
          <a:xfrm>
            <a:off x="4660900" y="2813473"/>
            <a:ext cx="295630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5A4A"/>
                </a:solidFill>
                <a:latin typeface="Nunito Sans" pitchFamily="34" charset="0"/>
                <a:ea typeface="Nunito Sans" pitchFamily="34" charset="-122"/>
                <a:cs typeface="Nunito Sans" pitchFamily="34" charset="-120"/>
              </a:rPr>
              <a:t>estimated yearly cost of invasive species to the Netherlands, including indirect costs</a:t>
            </a:r>
            <a:endParaRPr lang="en-US" sz="1400" dirty="0"/>
          </a:p>
        </p:txBody>
      </p:sp>
      <p:sp>
        <p:nvSpPr>
          <p:cNvPr id="10" name="Shape 8"/>
          <p:cNvSpPr/>
          <p:nvPr/>
        </p:nvSpPr>
        <p:spPr>
          <a:xfrm>
            <a:off x="7995708" y="1953895"/>
            <a:ext cx="3380317" cy="1861397"/>
          </a:xfrm>
          <a:prstGeom prst="roundRect">
            <a:avLst>
              <a:gd name="adj" fmla="val 5288"/>
            </a:avLst>
          </a:prstGeom>
          <a:solidFill>
            <a:srgbClr val="FFFDF7"/>
          </a:solidFill>
          <a:ln w="6350">
            <a:solidFill>
              <a:srgbClr val="DCD8C8"/>
            </a:solidFill>
            <a:prstDash val="solid"/>
          </a:ln>
        </p:spPr>
      </p:sp>
      <p:sp>
        <p:nvSpPr>
          <p:cNvPr id="11" name="Text 9"/>
          <p:cNvSpPr/>
          <p:nvPr/>
        </p:nvSpPr>
        <p:spPr>
          <a:xfrm>
            <a:off x="8250767" y="2208954"/>
            <a:ext cx="2956306"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3B2D"/>
                </a:solidFill>
                <a:latin typeface="Domine" pitchFamily="18" charset="0"/>
                <a:ea typeface="Domine" pitchFamily="18" charset="-122"/>
                <a:cs typeface="Domine" pitchFamily="18" charset="-120"/>
              </a:rPr>
              <a:t>Since 2017</a:t>
            </a:r>
            <a:endParaRPr lang="en-US" sz="3600" dirty="0"/>
          </a:p>
        </p:txBody>
      </p:sp>
      <p:sp>
        <p:nvSpPr>
          <p:cNvPr id="12" name="Text 10"/>
          <p:cNvSpPr/>
          <p:nvPr/>
        </p:nvSpPr>
        <p:spPr>
          <a:xfrm>
            <a:off x="8250767" y="2813473"/>
            <a:ext cx="295630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5A4A"/>
                </a:solidFill>
                <a:latin typeface="Nunito Sans" pitchFamily="34" charset="0"/>
                <a:ea typeface="Nunito Sans" pitchFamily="34" charset="-122"/>
                <a:cs typeface="Nunito Sans" pitchFamily="34" charset="-120"/>
              </a:rPr>
              <a:t>giant hogweed is on the EU invasive species list: member states must find and remove it</a:t>
            </a:r>
            <a:endParaRPr lang="en-US" sz="1400" dirty="0"/>
          </a:p>
        </p:txBody>
      </p:sp>
      <p:sp>
        <p:nvSpPr>
          <p:cNvPr id="13" name="Shape 11"/>
          <p:cNvSpPr/>
          <p:nvPr/>
        </p:nvSpPr>
        <p:spPr>
          <a:xfrm>
            <a:off x="812800" y="4174067"/>
            <a:ext cx="10566400" cy="955040"/>
          </a:xfrm>
          <a:prstGeom prst="roundRect">
            <a:avLst>
              <a:gd name="adj" fmla="val 10638"/>
            </a:avLst>
          </a:prstGeom>
          <a:solidFill>
            <a:srgbClr val="F3DFC2"/>
          </a:solidFill>
          <a:ln/>
        </p:spPr>
      </p:sp>
      <p:pic>
        <p:nvPicPr>
          <p:cNvPr id="14" name="Image 0" descr="Warning">    </p:cNvPr>
          <p:cNvPicPr>
            <a:picLocks noChangeAspect="1"/>
          </p:cNvPicPr>
          <p:nvPr/>
        </p:nvPicPr>
        <p:blipFill>
          <a:blip r:embed="rId1"/>
          <a:srcRect l="0" r="0" t="-219" b="-219"/>
          <a:stretch/>
        </p:blipFill>
        <p:spPr>
          <a:xfrm>
            <a:off x="1066800" y="4473787"/>
            <a:ext cx="265536" cy="355600"/>
          </a:xfrm>
          <a:prstGeom prst="rect">
            <a:avLst/>
          </a:prstGeom>
        </p:spPr>
      </p:pic>
      <p:sp>
        <p:nvSpPr>
          <p:cNvPr id="15" name="Text 12"/>
          <p:cNvSpPr/>
          <p:nvPr/>
        </p:nvSpPr>
        <p:spPr>
          <a:xfrm>
            <a:off x="1484736" y="4377267"/>
            <a:ext cx="9929678"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3A2410"/>
                </a:solidFill>
                <a:latin typeface="Nunito Sans" pitchFamily="34" charset="0"/>
                <a:ea typeface="Nunito Sans" pitchFamily="34" charset="-122"/>
                <a:cs typeface="Nunito Sans" pitchFamily="34" charset="-120"/>
              </a:rPr>
              <a:t>Giant hogweed sap plus sunlight causes severe burns</a:t>
            </a:r>
            <a:r>
              <a:rPr lang="en-US" sz="1600" dirty="0">
                <a:solidFill>
                  <a:srgbClr val="3A2410"/>
                </a:solidFill>
                <a:latin typeface="Nunito Sans" pitchFamily="34" charset="0"/>
                <a:ea typeface="Nunito Sans" pitchFamily="34" charset="-122"/>
                <a:cs typeface="Nunito Sans" pitchFamily="34" charset="-120"/>
              </a:rPr>
              <a:t> in people and dogs, yet it looks very much like the harmless native common hogweed.</a:t>
            </a:r>
            <a:endParaRPr lang="en-US" sz="1600" dirty="0"/>
          </a:p>
        </p:txBody>
      </p:sp>
      <p:sp>
        <p:nvSpPr>
          <p:cNvPr id="16"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6E"/>
                </a:solidFill>
                <a:latin typeface="Nunito Sans" pitchFamily="34" charset="0"/>
                <a:ea typeface="Nunito Sans" pitchFamily="34" charset="-122"/>
                <a:cs typeface="Nunito Sans" pitchFamily="34" charset="-120"/>
              </a:rPr>
              <a:t>Sources: Van der Weijden &amp; Reinhold, Landschap 2018 · Provincie Flevoland, factsheet reuzenberenklauw 2022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WHO IT IS FOR</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Keep my distance and report it, or leave it?</a:t>
            </a:r>
            <a:endParaRPr lang="en-US" sz="3200" dirty="0"/>
          </a:p>
        </p:txBody>
      </p:sp>
      <p:sp>
        <p:nvSpPr>
          <p:cNvPr id="4" name="Text 2"/>
          <p:cNvSpPr/>
          <p:nvPr/>
        </p:nvSpPr>
        <p:spPr>
          <a:xfrm>
            <a:off x="812800" y="1950720"/>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3B2D"/>
                </a:solidFill>
                <a:latin typeface="Nunito Sans" pitchFamily="34" charset="0"/>
                <a:ea typeface="Nunito Sans" pitchFamily="34" charset="-122"/>
                <a:cs typeface="Nunito Sans" pitchFamily="34" charset="-120"/>
              </a:rPr>
              <a:t>Our users</a:t>
            </a:r>
            <a:endParaRPr lang="en-US" sz="1800" dirty="0"/>
          </a:p>
        </p:txBody>
      </p:sp>
      <p:sp>
        <p:nvSpPr>
          <p:cNvPr id="5" name="Text 3"/>
          <p:cNvSpPr/>
          <p:nvPr/>
        </p:nvSpPr>
        <p:spPr>
          <a:xfrm>
            <a:off x="812800" y="2377439"/>
            <a:ext cx="5284724"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D5A4A"/>
                </a:solidFill>
                <a:latin typeface="Nunito Sans" pitchFamily="34" charset="0"/>
                <a:ea typeface="Nunito Sans" pitchFamily="34" charset="-122"/>
                <a:cs typeface="Nunito Sans" pitchFamily="34" charset="-120"/>
              </a:rPr>
              <a:t>Volunteers, municipal green-space crews and citizen scientists in the Netherlands. Outdoors, with only a phone, often without a field guide.</a:t>
            </a:r>
            <a:endParaRPr lang="en-US" sz="1600" dirty="0"/>
          </a:p>
        </p:txBody>
      </p:sp>
      <p:sp>
        <p:nvSpPr>
          <p:cNvPr id="6" name="Text 4"/>
          <p:cNvSpPr/>
          <p:nvPr/>
        </p:nvSpPr>
        <p:spPr>
          <a:xfrm>
            <a:off x="812800" y="3413761"/>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3B2D"/>
                </a:solidFill>
                <a:latin typeface="Nunito Sans" pitchFamily="34" charset="0"/>
                <a:ea typeface="Nunito Sans" pitchFamily="34" charset="-122"/>
                <a:cs typeface="Nunito Sans" pitchFamily="34" charset="-120"/>
              </a:rPr>
              <a:t>Not for</a:t>
            </a:r>
            <a:endParaRPr lang="en-US" sz="1800" dirty="0"/>
          </a:p>
        </p:txBody>
      </p:sp>
      <p:sp>
        <p:nvSpPr>
          <p:cNvPr id="7" name="Text 5"/>
          <p:cNvSpPr/>
          <p:nvPr/>
        </p:nvSpPr>
        <p:spPr>
          <a:xfrm>
            <a:off x="812800" y="3840480"/>
            <a:ext cx="5284724"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D5A4A"/>
                </a:solidFill>
                <a:latin typeface="Nunito Sans" pitchFamily="34" charset="0"/>
                <a:ea typeface="Nunito Sans" pitchFamily="34" charset="-122"/>
                <a:cs typeface="Nunito Sans" pitchFamily="34" charset="-120"/>
              </a:rPr>
              <a:t>Removing plants without an expert, plants other than our 7 species, or use outside the Netherlands.</a:t>
            </a:r>
            <a:endParaRPr lang="en-US" sz="1600" dirty="0"/>
          </a:p>
        </p:txBody>
      </p:sp>
      <p:sp>
        <p:nvSpPr>
          <p:cNvPr id="8" name="Shape 6"/>
          <p:cNvSpPr/>
          <p:nvPr/>
        </p:nvSpPr>
        <p:spPr>
          <a:xfrm>
            <a:off x="6248400" y="1950720"/>
            <a:ext cx="5130800" cy="2956560"/>
          </a:xfrm>
          <a:prstGeom prst="roundRect">
            <a:avLst>
              <a:gd name="adj" fmla="val 3436"/>
            </a:avLst>
          </a:prstGeom>
          <a:solidFill>
            <a:srgbClr val="1F3B2D"/>
          </a:solidFill>
          <a:ln/>
        </p:spPr>
      </p:sp>
      <p:sp>
        <p:nvSpPr>
          <p:cNvPr id="9" name="Text 7"/>
          <p:cNvSpPr/>
          <p:nvPr/>
        </p:nvSpPr>
        <p:spPr>
          <a:xfrm>
            <a:off x="6553200" y="2255520"/>
            <a:ext cx="46568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84A"/>
                </a:solidFill>
                <a:latin typeface="Nunito Sans" pitchFamily="34" charset="0"/>
                <a:ea typeface="Nunito Sans" pitchFamily="34" charset="-122"/>
                <a:cs typeface="Nunito Sans" pitchFamily="34" charset="-120"/>
              </a:rPr>
              <a:t>Why not ObsIdentify or Google Lens?</a:t>
            </a:r>
            <a:endParaRPr lang="en-US" sz="1800" dirty="0"/>
          </a:p>
        </p:txBody>
      </p:sp>
      <p:sp>
        <p:nvSpPr>
          <p:cNvPr id="10" name="Text 8"/>
          <p:cNvSpPr/>
          <p:nvPr/>
        </p:nvSpPr>
        <p:spPr>
          <a:xfrm>
            <a:off x="6553200" y="2682239"/>
            <a:ext cx="465683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CE6DE"/>
                </a:solidFill>
                <a:latin typeface="Nunito Sans" pitchFamily="34" charset="0"/>
                <a:ea typeface="Nunito Sans" pitchFamily="34" charset="-122"/>
                <a:cs typeface="Nunito Sans" pitchFamily="34" charset="-120"/>
              </a:rPr>
              <a:t>They give a species name and a confidence, and treat every mistake the same.</a:t>
            </a:r>
            <a:endParaRPr lang="en-US" sz="1600" dirty="0"/>
          </a:p>
        </p:txBody>
      </p:sp>
      <p:sp>
        <p:nvSpPr>
          <p:cNvPr id="11" name="Text 9"/>
          <p:cNvSpPr/>
          <p:nvPr/>
        </p:nvSpPr>
        <p:spPr>
          <a:xfrm>
            <a:off x="6553200" y="3423920"/>
            <a:ext cx="4656836" cy="12039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CE6DE"/>
                </a:solidFill>
                <a:latin typeface="Nunito Sans" pitchFamily="34" charset="0"/>
                <a:ea typeface="Nunito Sans" pitchFamily="34" charset="-122"/>
                <a:cs typeface="Nunito Sans" pitchFamily="34" charset="-120"/>
              </a:rPr>
              <a:t>Our app is trained on exactly the pairs that get confused, and </a:t>
            </a:r>
            <a:r>
              <a:rPr lang="en-US" sz="1600" b="1" dirty="0">
                <a:solidFill>
                  <a:srgbClr val="DCE6DE"/>
                </a:solidFill>
                <a:latin typeface="Nunito Sans" pitchFamily="34" charset="0"/>
                <a:ea typeface="Nunito Sans" pitchFamily="34" charset="-122"/>
                <a:cs typeface="Nunito Sans" pitchFamily="34" charset="-120"/>
              </a:rPr>
              <a:t>prefers a false alarm over a missed giant hogweed</a:t>
            </a:r>
            <a:r>
              <a:rPr lang="en-US" sz="1600" dirty="0">
                <a:solidFill>
                  <a:srgbClr val="DCE6DE"/>
                </a:solidFill>
                <a:latin typeface="Nunito Sans" pitchFamily="34" charset="0"/>
                <a:ea typeface="Nunito Sans" pitchFamily="34" charset="-122"/>
                <a:cs typeface="Nunito Sans" pitchFamily="34" charset="-120"/>
              </a:rPr>
              <a:t>: the answer is “do not touch, report it”, not a confident guess.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THE DATA</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840 Dutch photos, 3 invasive plants, 4 look-alikes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620"/>
          <a:ext cx="5092700" cy="1917700"/>
        </p:xfrm>
        <a:graphic>
          <a:graphicData uri="http://schemas.openxmlformats.org/drawingml/2006/table">
            <a:tbl>
              <a:tblPr/>
              <a:tblGrid>
                <a:gridCol w="2546350"/>
                <a:gridCol w="2546350"/>
              </a:tblGrid>
              <a:tr h="412750">
                <a:tc>
                  <a:txBody>
                    <a:bodyPr/>
                    <a:lstStyle/>
                    <a:p>
                      <a:pPr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Invasive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AEABA0"/>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AEABA0"/>
                      </a:solidFill>
                      <a:prstDash val="solid"/>
                      <a:round/>
                      <a:headEnd type="none" w="med" len="med"/>
                      <a:tailEnd type="none" w="med" len="med"/>
                    </a:lnB>
                    <a:solidFill>
                      <a:srgbClr val="DAD6C8"/>
                    </a:solidFill>
                  </a:tcPr>
                </a:tc>
                <a:tc>
                  <a:txBody>
                    <a:bodyPr/>
                    <a:lstStyle/>
                    <a:p>
                      <a:pPr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Native look-alike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EABA0"/>
                      </a:solidFill>
                      <a:prstDash val="solid"/>
                      <a:round/>
                      <a:headEnd type="none" w="med" len="med"/>
                      <a:tailEnd type="none" w="med" len="med"/>
                    </a:lnL>
                    <a:lnR w="12700" cap="flat" cmpd="sng" algn="ctr">
                      <a:solidFill>
                        <a:srgbClr val="AEABA0"/>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AEABA0"/>
                      </a:solidFill>
                      <a:prstDash val="solid"/>
                      <a:round/>
                      <a:headEnd type="none" w="med" len="med"/>
                      <a:tailEnd type="none" w="med" len="med"/>
                    </a:lnB>
                    <a:solidFill>
                      <a:srgbClr val="DAD6C8"/>
                    </a:solidFill>
                  </a:tcPr>
                </a:tc>
              </a:tr>
              <a:tr h="679450">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Giant hogweed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AEABA0"/>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Common hogweed; cow parsley, wild angelica</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AEABA0"/>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Japanese knotweed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Hedge bindweed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Himalayan balsam</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c>
                  <a:txBody>
                    <a:bodyPr/>
                    <a:lstStyle/>
                    <a:p>
                      <a:pPr indent="0" marL="0">
                        <a:lnSpc>
                          <a:spcPts val="2100"/>
                        </a:lnSpc>
                        <a:buNone/>
                      </a:pPr>
                      <a:r>
                        <a:rPr lang="en-US" sz="1500" dirty="0">
                          <a:solidFill>
                            <a:srgbClr val="1F3B2D"/>
                          </a:solidFill>
                          <a:latin typeface="Nunito Sans" pitchFamily="34" charset="0"/>
                          <a:ea typeface="Nunito Sans" pitchFamily="34" charset="-122"/>
                          <a:cs typeface="Nunito Sans" pitchFamily="34" charset="-120"/>
                        </a:rPr>
                        <a:t>Purple loosestrife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CB9AD"/>
                      </a:solidFill>
                      <a:prstDash val="solid"/>
                      <a:round/>
                      <a:headEnd type="none" w="med" len="med"/>
                      <a:tailEnd type="none" w="med" len="med"/>
                    </a:lnL>
                    <a:lnR w="12700" cap="flat" cmpd="sng" algn="ctr">
                      <a:solidFill>
                        <a:srgbClr val="BCB9AD"/>
                      </a:solidFill>
                      <a:prstDash val="solid"/>
                      <a:round/>
                      <a:headEnd type="none" w="med" len="med"/>
                      <a:tailEnd type="none" w="med" len="med"/>
                    </a:lnR>
                    <a:lnT w="12700" cap="flat" cmpd="sng" algn="ctr">
                      <a:solidFill>
                        <a:srgbClr val="BCB9AD"/>
                      </a:solidFill>
                      <a:prstDash val="solid"/>
                      <a:round/>
                      <a:headEnd type="none" w="med" len="med"/>
                      <a:tailEnd type="none" w="med" len="med"/>
                    </a:lnT>
                    <a:lnB w="12700" cap="flat" cmpd="sng" algn="ctr">
                      <a:solidFill>
                        <a:srgbClr val="BCB9AD"/>
                      </a:solidFill>
                      <a:prstDash val="solid"/>
                      <a:round/>
                      <a:headEnd type="none" w="med" len="med"/>
                      <a:tailEnd type="none" w="med" len="med"/>
                    </a:lnB>
                  </a:tcPr>
                </a:tc>
              </a:tr>
            </a:tbl>
          </a:graphicData>
        </a:graphic>
      </p:graphicFrame>
      <p:sp>
        <p:nvSpPr>
          <p:cNvPr id="5" name="Text 2"/>
          <p:cNvSpPr/>
          <p:nvPr/>
        </p:nvSpPr>
        <p:spPr>
          <a:xfrm>
            <a:off x="6273800" y="1899920"/>
            <a:ext cx="525856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Source:</a:t>
            </a:r>
            <a:r>
              <a:rPr lang="en-US" sz="1500" dirty="0">
                <a:solidFill>
                  <a:srgbClr val="1F3B2D"/>
                </a:solidFill>
                <a:latin typeface="Nunito Sans" pitchFamily="34" charset="0"/>
                <a:ea typeface="Nunito Sans" pitchFamily="34" charset="-122"/>
                <a:cs typeface="Nunito Sans" pitchFamily="34" charset="-120"/>
              </a:rPr>
              <a:t> research-grade iNaturalist photos from the Netherlands, CC0 / CC BY / CC BY-NC, every photographer credited</a:t>
            </a:r>
            <a:endParaRPr lang="en-US" sz="1500" dirty="0"/>
          </a:p>
        </p:txBody>
      </p:sp>
      <p:sp>
        <p:nvSpPr>
          <p:cNvPr id="6" name="Text 3"/>
          <p:cNvSpPr/>
          <p:nvPr/>
        </p:nvSpPr>
        <p:spPr>
          <a:xfrm>
            <a:off x="6273800" y="2827020"/>
            <a:ext cx="525856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Split:</a:t>
            </a:r>
            <a:r>
              <a:rPr lang="en-US" sz="1500" dirty="0">
                <a:solidFill>
                  <a:srgbClr val="1F3B2D"/>
                </a:solidFill>
                <a:latin typeface="Nunito Sans" pitchFamily="34" charset="0"/>
                <a:ea typeface="Nunito Sans" pitchFamily="34" charset="-122"/>
                <a:cs typeface="Nunito Sans" pitchFamily="34" charset="-120"/>
              </a:rPr>
              <a:t> 760 for training in Roboflow, </a:t>
            </a:r>
            <a:r>
              <a:rPr lang="en-US" sz="1500" b="1" dirty="0">
                <a:solidFill>
                  <a:srgbClr val="1F3B2D"/>
                </a:solidFill>
                <a:latin typeface="Nunito Sans" pitchFamily="34" charset="0"/>
                <a:ea typeface="Nunito Sans" pitchFamily="34" charset="-122"/>
                <a:cs typeface="Nunito Sans" pitchFamily="34" charset="-120"/>
              </a:rPr>
              <a:t>80 kept apart</a:t>
            </a:r>
            <a:r>
              <a:rPr lang="en-US" sz="1500" dirty="0">
                <a:solidFill>
                  <a:srgbClr val="1F3B2D"/>
                </a:solidFill>
                <a:latin typeface="Nunito Sans" pitchFamily="34" charset="0"/>
                <a:ea typeface="Nunito Sans" pitchFamily="34" charset="-122"/>
                <a:cs typeface="Nunito Sans" pitchFamily="34" charset="-120"/>
              </a:rPr>
              <a:t> from other sightings </a:t>
            </a:r>
            <a:r>
              <a:rPr lang="en-US" sz="1500" i="1" dirty="0">
                <a:solidFill>
                  <a:srgbClr val="1F3B2D"/>
                </a:solidFill>
                <a:latin typeface="Nunito Sans" pitchFamily="34" charset="0"/>
                <a:ea typeface="Nunito Sans" pitchFamily="34" charset="-122"/>
                <a:cs typeface="Nunito Sans" pitchFamily="34" charset="-120"/>
              </a:rPr>
              <a:t>and</a:t>
            </a:r>
            <a:r>
              <a:rPr lang="en-US" sz="1500" dirty="0">
                <a:solidFill>
                  <a:srgbClr val="1F3B2D"/>
                </a:solidFill>
                <a:latin typeface="Nunito Sans" pitchFamily="34" charset="0"/>
                <a:ea typeface="Nunito Sans" pitchFamily="34" charset="-122"/>
                <a:cs typeface="Nunito Sans" pitchFamily="34" charset="-120"/>
              </a:rPr>
              <a:t> other photographers</a:t>
            </a:r>
            <a:endParaRPr lang="en-US" sz="1500" dirty="0"/>
          </a:p>
        </p:txBody>
      </p:sp>
      <p:sp>
        <p:nvSpPr>
          <p:cNvPr id="7" name="Text 4"/>
          <p:cNvSpPr/>
          <p:nvPr/>
        </p:nvSpPr>
        <p:spPr>
          <a:xfrm>
            <a:off x="6273800" y="3487420"/>
            <a:ext cx="525856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Cleaning:</a:t>
            </a:r>
            <a:r>
              <a:rPr lang="en-US" sz="1500" dirty="0">
                <a:solidFill>
                  <a:srgbClr val="1F3B2D"/>
                </a:solidFill>
                <a:latin typeface="Nunito Sans" pitchFamily="34" charset="0"/>
                <a:ea typeface="Nunito Sans" pitchFamily="34" charset="-122"/>
                <a:cs typeface="Nunito Sans" pitchFamily="34" charset="-120"/>
              </a:rPr>
              <a:t> max 10 photos per photographer, duplicates removed, 26 rejected by eye</a:t>
            </a:r>
            <a:endParaRPr lang="en-US" sz="1500" dirty="0"/>
          </a:p>
        </p:txBody>
      </p:sp>
      <p:sp>
        <p:nvSpPr>
          <p:cNvPr id="8" name="Text 5"/>
          <p:cNvSpPr/>
          <p:nvPr/>
        </p:nvSpPr>
        <p:spPr>
          <a:xfrm>
            <a:off x="812800" y="4325620"/>
            <a:ext cx="10566400" cy="889000"/>
          </a:xfrm>
          <a:prstGeom prst="roundRect">
            <a:avLst>
              <a:gd name="adj" fmla="val 11429"/>
            </a:avLst>
          </a:prstGeom>
          <a:solidFill>
            <a:srgbClr val="F5F3EA"/>
          </a:solidFill>
          <a:ln/>
        </p:spPr>
        <p:txBody>
          <a:bodyPr wrap="square" lIns="198842" tIns="148042" rIns="0" bIns="122642" rtlCol="0" anchor="t">
            <a:normAutofit/>
          </a:bodyPr>
          <a:lstStyle/>
          <a:p>
            <a:pPr algn="l" indent="0" marL="0">
              <a:lnSpc>
                <a:spcPts val="2100"/>
              </a:lnSpc>
              <a:buNone/>
            </a:pPr>
            <a:r>
              <a:rPr lang="en-US" sz="1500" b="1" dirty="0">
                <a:solidFill>
                  <a:srgbClr val="1F3B2D"/>
                </a:solidFill>
                <a:latin typeface="Nunito Sans" pitchFamily="34" charset="0"/>
                <a:ea typeface="Nunito Sans" pitchFamily="34" charset="-122"/>
                <a:cs typeface="Nunito Sans" pitchFamily="34" charset="-120"/>
              </a:rPr>
              <a:t>Why species, not “invasive yes/no”?</a:t>
            </a:r>
            <a:r>
              <a:rPr lang="en-US" sz="1500" dirty="0">
                <a:solidFill>
                  <a:srgbClr val="1F3B2D"/>
                </a:solidFill>
                <a:latin typeface="Nunito Sans" pitchFamily="34" charset="0"/>
                <a:ea typeface="Nunito Sans" pitchFamily="34" charset="-122"/>
                <a:cs typeface="Nunito Sans" pitchFamily="34" charset="-120"/>
              </a:rPr>
              <a:t> Invasiveness is not visible in a photo. A broad “not invasive” class would teach the model shortcuts like season or background.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HOW IT WORKS</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From photo to safety verdict</a:t>
            </a:r>
            <a:endParaRPr lang="en-US" sz="3200" dirty="0"/>
          </a:p>
        </p:txBody>
      </p:sp>
      <p:sp>
        <p:nvSpPr>
          <p:cNvPr id="4" name="Shape 2"/>
          <p:cNvSpPr/>
          <p:nvPr/>
        </p:nvSpPr>
        <p:spPr>
          <a:xfrm>
            <a:off x="815975" y="1903096"/>
            <a:ext cx="2256367" cy="2368550"/>
          </a:xfrm>
          <a:prstGeom prst="roundRect">
            <a:avLst>
              <a:gd name="adj" fmla="val 4362"/>
            </a:avLst>
          </a:prstGeom>
          <a:solidFill>
            <a:srgbClr val="FFFDF7"/>
          </a:solidFill>
          <a:ln w="6350">
            <a:solidFill>
              <a:srgbClr val="DCD8C8"/>
            </a:solidFill>
            <a:prstDash val="solid"/>
          </a:ln>
        </p:spPr>
      </p:sp>
      <p:sp>
        <p:nvSpPr>
          <p:cNvPr id="5" name="Text 3"/>
          <p:cNvSpPr/>
          <p:nvPr/>
        </p:nvSpPr>
        <p:spPr>
          <a:xfrm>
            <a:off x="1045633" y="2132754"/>
            <a:ext cx="18509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601A"/>
                </a:solidFill>
                <a:latin typeface="Nunito Sans" pitchFamily="34" charset="0"/>
                <a:ea typeface="Nunito Sans" pitchFamily="34" charset="-122"/>
                <a:cs typeface="Nunito Sans" pitchFamily="34" charset="-120"/>
              </a:rPr>
              <a:t>1</a:t>
            </a:r>
            <a:endParaRPr lang="en-US" sz="1200" dirty="0"/>
          </a:p>
        </p:txBody>
      </p:sp>
      <p:sp>
        <p:nvSpPr>
          <p:cNvPr id="6" name="Text 4"/>
          <p:cNvSpPr/>
          <p:nvPr/>
        </p:nvSpPr>
        <p:spPr>
          <a:xfrm>
            <a:off x="1045633" y="2447714"/>
            <a:ext cx="18509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Photo in</a:t>
            </a:r>
            <a:endParaRPr lang="en-US" sz="1600" dirty="0"/>
          </a:p>
        </p:txBody>
      </p:sp>
      <p:sp>
        <p:nvSpPr>
          <p:cNvPr id="7" name="Text 5"/>
          <p:cNvSpPr/>
          <p:nvPr/>
        </p:nvSpPr>
        <p:spPr>
          <a:xfrm>
            <a:off x="1045633" y="2793154"/>
            <a:ext cx="185096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5A4A"/>
                </a:solidFill>
                <a:latin typeface="Nunito Sans" pitchFamily="34" charset="0"/>
                <a:ea typeface="Nunito Sans" pitchFamily="34" charset="-122"/>
                <a:cs typeface="Nunito Sans" pitchFamily="34" charset="-120"/>
              </a:rPr>
              <a:t>Phone camera or upload, iPhone HEIC works</a:t>
            </a:r>
            <a:endParaRPr lang="en-US" sz="1300" dirty="0"/>
          </a:p>
        </p:txBody>
      </p:sp>
      <p:pic>
        <p:nvPicPr>
          <p:cNvPr id="8" name="Image 0" descr="arrow-right">    </p:cNvPr>
          <p:cNvPicPr>
            <a:picLocks noChangeAspect="1"/>
          </p:cNvPicPr>
          <p:nvPr/>
        </p:nvPicPr>
        <p:blipFill>
          <a:blip r:embed="rId1"/>
          <a:srcRect l="0" r="0" t="0" b="0"/>
          <a:stretch/>
        </p:blipFill>
        <p:spPr>
          <a:xfrm>
            <a:off x="3177117" y="2985771"/>
            <a:ext cx="304800" cy="203200"/>
          </a:xfrm>
          <a:prstGeom prst="rect">
            <a:avLst/>
          </a:prstGeom>
        </p:spPr>
      </p:pic>
      <p:sp>
        <p:nvSpPr>
          <p:cNvPr id="9" name="Shape 6"/>
          <p:cNvSpPr/>
          <p:nvPr/>
        </p:nvSpPr>
        <p:spPr>
          <a:xfrm>
            <a:off x="3586692" y="1903096"/>
            <a:ext cx="2256367" cy="2368550"/>
          </a:xfrm>
          <a:prstGeom prst="roundRect">
            <a:avLst>
              <a:gd name="adj" fmla="val 4362"/>
            </a:avLst>
          </a:prstGeom>
          <a:solidFill>
            <a:srgbClr val="FFFDF7"/>
          </a:solidFill>
          <a:ln w="6350">
            <a:solidFill>
              <a:srgbClr val="DCD8C8"/>
            </a:solidFill>
            <a:prstDash val="solid"/>
          </a:ln>
        </p:spPr>
      </p:sp>
      <p:sp>
        <p:nvSpPr>
          <p:cNvPr id="10" name="Text 7"/>
          <p:cNvSpPr/>
          <p:nvPr/>
        </p:nvSpPr>
        <p:spPr>
          <a:xfrm>
            <a:off x="3816350" y="2132754"/>
            <a:ext cx="18509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601A"/>
                </a:solidFill>
                <a:latin typeface="Nunito Sans" pitchFamily="34" charset="0"/>
                <a:ea typeface="Nunito Sans" pitchFamily="34" charset="-122"/>
                <a:cs typeface="Nunito Sans" pitchFamily="34" charset="-120"/>
              </a:rPr>
              <a:t>2</a:t>
            </a:r>
            <a:endParaRPr lang="en-US" sz="1200" dirty="0"/>
          </a:p>
        </p:txBody>
      </p:sp>
      <p:sp>
        <p:nvSpPr>
          <p:cNvPr id="11" name="Text 8"/>
          <p:cNvSpPr/>
          <p:nvPr/>
        </p:nvSpPr>
        <p:spPr>
          <a:xfrm>
            <a:off x="3816350" y="2447714"/>
            <a:ext cx="18509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Roboflow model</a:t>
            </a:r>
            <a:endParaRPr lang="en-US" sz="1600" dirty="0"/>
          </a:p>
        </p:txBody>
      </p:sp>
      <p:sp>
        <p:nvSpPr>
          <p:cNvPr id="12" name="Text 9"/>
          <p:cNvSpPr/>
          <p:nvPr/>
        </p:nvSpPr>
        <p:spPr>
          <a:xfrm>
            <a:off x="3816350" y="2793154"/>
            <a:ext cx="18509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5A4A"/>
                </a:solidFill>
                <a:latin typeface="Nunito Sans" pitchFamily="34" charset="0"/>
                <a:ea typeface="Nunito Sans" pitchFamily="34" charset="-122"/>
                <a:cs typeface="Nunito Sans" pitchFamily="34" charset="-120"/>
              </a:rPr>
              <a:t>ViT Base classifier scores all 7 species</a:t>
            </a:r>
            <a:endParaRPr lang="en-US" sz="1300" dirty="0"/>
          </a:p>
        </p:txBody>
      </p:sp>
      <p:pic>
        <p:nvPicPr>
          <p:cNvPr id="13" name="Image 1" descr="arrow-right">    </p:cNvPr>
          <p:cNvPicPr>
            <a:picLocks noChangeAspect="1"/>
          </p:cNvPicPr>
          <p:nvPr/>
        </p:nvPicPr>
        <p:blipFill>
          <a:blip r:embed="rId2"/>
          <a:srcRect l="0" r="0" t="0" b="0"/>
          <a:stretch/>
        </p:blipFill>
        <p:spPr>
          <a:xfrm>
            <a:off x="5947833" y="2985771"/>
            <a:ext cx="304800" cy="203200"/>
          </a:xfrm>
          <a:prstGeom prst="rect">
            <a:avLst/>
          </a:prstGeom>
        </p:spPr>
      </p:pic>
      <p:sp>
        <p:nvSpPr>
          <p:cNvPr id="14" name="Shape 10"/>
          <p:cNvSpPr/>
          <p:nvPr/>
        </p:nvSpPr>
        <p:spPr>
          <a:xfrm>
            <a:off x="6354233" y="1899921"/>
            <a:ext cx="2254250" cy="2374900"/>
          </a:xfrm>
          <a:prstGeom prst="roundRect">
            <a:avLst>
              <a:gd name="adj" fmla="val 4507"/>
            </a:avLst>
          </a:prstGeom>
          <a:solidFill>
            <a:srgbClr val="1F3B2D"/>
          </a:solidFill>
          <a:ln/>
        </p:spPr>
      </p:sp>
      <p:sp>
        <p:nvSpPr>
          <p:cNvPr id="15" name="Text 11"/>
          <p:cNvSpPr/>
          <p:nvPr/>
        </p:nvSpPr>
        <p:spPr>
          <a:xfrm>
            <a:off x="6582833" y="2128521"/>
            <a:ext cx="18509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84A"/>
                </a:solidFill>
                <a:latin typeface="Nunito Sans" pitchFamily="34" charset="0"/>
                <a:ea typeface="Nunito Sans" pitchFamily="34" charset="-122"/>
                <a:cs typeface="Nunito Sans" pitchFamily="34" charset="-120"/>
              </a:rPr>
              <a:t>3</a:t>
            </a:r>
            <a:endParaRPr lang="en-US" sz="1200" dirty="0"/>
          </a:p>
        </p:txBody>
      </p:sp>
      <p:sp>
        <p:nvSpPr>
          <p:cNvPr id="16" name="Text 12"/>
          <p:cNvSpPr/>
          <p:nvPr/>
        </p:nvSpPr>
        <p:spPr>
          <a:xfrm>
            <a:off x="6582833" y="2443479"/>
            <a:ext cx="18509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A"/>
                </a:solidFill>
                <a:latin typeface="Nunito Sans" pitchFamily="34" charset="0"/>
                <a:ea typeface="Nunito Sans" pitchFamily="34" charset="-122"/>
                <a:cs typeface="Nunito Sans" pitchFamily="34" charset="-120"/>
              </a:rPr>
              <a:t>Safety rules</a:t>
            </a:r>
            <a:endParaRPr lang="en-US" sz="1600" dirty="0"/>
          </a:p>
        </p:txBody>
      </p:sp>
      <p:sp>
        <p:nvSpPr>
          <p:cNvPr id="17" name="Text 13"/>
          <p:cNvSpPr/>
          <p:nvPr/>
        </p:nvSpPr>
        <p:spPr>
          <a:xfrm>
            <a:off x="6582833" y="2788921"/>
            <a:ext cx="185096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6DE"/>
                </a:solidFill>
                <a:latin typeface="Nunito Sans" pitchFamily="34" charset="0"/>
                <a:ea typeface="Nunito Sans" pitchFamily="34" charset="-122"/>
                <a:cs typeface="Nunito Sans" pitchFamily="34" charset="-120"/>
              </a:rPr>
              <a:t>Top score below 70% → “Unsure, do not touch”</a:t>
            </a:r>
            <a:endParaRPr lang="en-US" sz="1300" dirty="0"/>
          </a:p>
        </p:txBody>
      </p:sp>
      <p:sp>
        <p:nvSpPr>
          <p:cNvPr id="18" name="Text 14"/>
          <p:cNvSpPr/>
          <p:nvPr/>
        </p:nvSpPr>
        <p:spPr>
          <a:xfrm>
            <a:off x="6582833" y="3583939"/>
            <a:ext cx="18509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6DE"/>
                </a:solidFill>
                <a:latin typeface="Nunito Sans" pitchFamily="34" charset="0"/>
                <a:ea typeface="Nunito Sans" pitchFamily="34" charset="-122"/>
                <a:cs typeface="Nunito Sans" pitchFamily="34" charset="-120"/>
              </a:rPr>
              <a:t>Giant hogweed ≥ 20% → always a warning</a:t>
            </a:r>
            <a:endParaRPr lang="en-US" sz="1300" dirty="0"/>
          </a:p>
        </p:txBody>
      </p:sp>
      <p:pic>
        <p:nvPicPr>
          <p:cNvPr id="19" name="Image 2" descr="arrow-right">    </p:cNvPr>
          <p:cNvPicPr>
            <a:picLocks noChangeAspect="1"/>
          </p:cNvPicPr>
          <p:nvPr/>
        </p:nvPicPr>
        <p:blipFill>
          <a:blip r:embed="rId3"/>
          <a:srcRect l="0" r="0" t="0" b="0"/>
          <a:stretch/>
        </p:blipFill>
        <p:spPr>
          <a:xfrm>
            <a:off x="8710083" y="2985771"/>
            <a:ext cx="304800" cy="203200"/>
          </a:xfrm>
          <a:prstGeom prst="rect">
            <a:avLst/>
          </a:prstGeom>
        </p:spPr>
      </p:pic>
      <p:sp>
        <p:nvSpPr>
          <p:cNvPr id="20" name="Shape 15"/>
          <p:cNvSpPr/>
          <p:nvPr/>
        </p:nvSpPr>
        <p:spPr>
          <a:xfrm>
            <a:off x="9119658" y="1903096"/>
            <a:ext cx="2256367" cy="2368550"/>
          </a:xfrm>
          <a:prstGeom prst="roundRect">
            <a:avLst>
              <a:gd name="adj" fmla="val 4362"/>
            </a:avLst>
          </a:prstGeom>
          <a:solidFill>
            <a:srgbClr val="FFFDF7"/>
          </a:solidFill>
          <a:ln w="6350">
            <a:solidFill>
              <a:srgbClr val="DCD8C8"/>
            </a:solidFill>
            <a:prstDash val="solid"/>
          </a:ln>
        </p:spPr>
      </p:sp>
      <p:sp>
        <p:nvSpPr>
          <p:cNvPr id="21" name="Text 16"/>
          <p:cNvSpPr/>
          <p:nvPr/>
        </p:nvSpPr>
        <p:spPr>
          <a:xfrm>
            <a:off x="9349317" y="2132754"/>
            <a:ext cx="18509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601A"/>
                </a:solidFill>
                <a:latin typeface="Nunito Sans" pitchFamily="34" charset="0"/>
                <a:ea typeface="Nunito Sans" pitchFamily="34" charset="-122"/>
                <a:cs typeface="Nunito Sans" pitchFamily="34" charset="-120"/>
              </a:rPr>
              <a:t>4</a:t>
            </a:r>
            <a:endParaRPr lang="en-US" sz="1200" dirty="0"/>
          </a:p>
        </p:txBody>
      </p:sp>
      <p:sp>
        <p:nvSpPr>
          <p:cNvPr id="22" name="Text 17"/>
          <p:cNvSpPr/>
          <p:nvPr/>
        </p:nvSpPr>
        <p:spPr>
          <a:xfrm>
            <a:off x="9349317" y="2447714"/>
            <a:ext cx="18509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Verdict</a:t>
            </a:r>
            <a:endParaRPr lang="en-US" sz="1600" dirty="0"/>
          </a:p>
        </p:txBody>
      </p:sp>
      <p:sp>
        <p:nvSpPr>
          <p:cNvPr id="23" name="Text 18"/>
          <p:cNvSpPr/>
          <p:nvPr/>
        </p:nvSpPr>
        <p:spPr>
          <a:xfrm>
            <a:off x="9349317" y="2793154"/>
            <a:ext cx="1850962"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5A4A"/>
                </a:solidFill>
                <a:latin typeface="Nunito Sans" pitchFamily="34" charset="0"/>
                <a:ea typeface="Nunito Sans" pitchFamily="34" charset="-122"/>
                <a:cs typeface="Nunito Sans" pitchFamily="34" charset="-120"/>
              </a:rPr>
              <a:t>Invasive, Native or Unsure, how to recognise it, and a button to report on Waarneming.nl</a:t>
            </a:r>
            <a:endParaRPr lang="en-US" sz="1300" dirty="0"/>
          </a:p>
        </p:txBody>
      </p:sp>
      <p:sp>
        <p:nvSpPr>
          <p:cNvPr id="24" name="Text 19"/>
          <p:cNvSpPr/>
          <p:nvPr/>
        </p:nvSpPr>
        <p:spPr>
          <a:xfrm>
            <a:off x="812800" y="45796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3B2D"/>
                </a:solidFill>
                <a:latin typeface="Nunito Sans" pitchFamily="34" charset="0"/>
                <a:ea typeface="Nunito Sans" pitchFamily="34" charset="-122"/>
                <a:cs typeface="Nunito Sans" pitchFamily="34" charset="-120"/>
              </a:rPr>
              <a:t>Why the rules:</a:t>
            </a:r>
            <a:r>
              <a:rPr lang="en-US" sz="1600" dirty="0">
                <a:solidFill>
                  <a:srgbClr val="1F3B2D"/>
                </a:solidFill>
                <a:latin typeface="Nunito Sans" pitchFamily="34" charset="0"/>
                <a:ea typeface="Nunito Sans" pitchFamily="34" charset="-122"/>
                <a:cs typeface="Nunito Sans" pitchFamily="34" charset="-120"/>
              </a:rPr>
              <a:t> the two mistakes are not equally bad. A false alarm costs a report; a missed giant hogweed can cost a burn.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A84A"/>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4A2C0C"/>
                </a:solidFill>
                <a:latin typeface="Nunito Sans" pitchFamily="34" charset="0"/>
                <a:ea typeface="Nunito Sans" pitchFamily="34" charset="-122"/>
                <a:cs typeface="Nunito Sans" pitchFamily="34" charset="-120"/>
              </a:rPr>
              <a:t>LIVE DEMO</a:t>
            </a:r>
            <a:endParaRPr lang="en-US" sz="1600" dirty="0"/>
          </a:p>
        </p:txBody>
      </p:sp>
      <p:sp>
        <p:nvSpPr>
          <p:cNvPr id="3" name="Text 1"/>
          <p:cNvSpPr/>
          <p:nvPr>
            <p:ph type="title"/>
          </p:nvPr>
        </p:nvSpPr>
        <p:spPr>
          <a:xfrm>
            <a:off x="812800" y="229870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2A1A08"/>
                </a:solidFill>
                <a:latin typeface="Domine" pitchFamily="18" charset="0"/>
                <a:ea typeface="Domine" pitchFamily="18" charset="-122"/>
                <a:cs typeface="Domine" pitchFamily="18" charset="-120"/>
              </a:rPr>
              <a:t>Two look-alikes, two verdicts</a:t>
            </a:r>
            <a:endParaRPr lang="en-US" sz="4800" dirty="0"/>
          </a:p>
        </p:txBody>
      </p:sp>
      <p:sp>
        <p:nvSpPr>
          <p:cNvPr id="4" name="Text 2"/>
          <p:cNvSpPr/>
          <p:nvPr/>
        </p:nvSpPr>
        <p:spPr>
          <a:xfrm>
            <a:off x="812800" y="322326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A1A08"/>
                </a:solidFill>
                <a:latin typeface="Nunito Sans" pitchFamily="34" charset="0"/>
                <a:ea typeface="Nunito Sans" pitchFamily="34" charset="-122"/>
                <a:cs typeface="Nunito Sans" pitchFamily="34" charset="-120"/>
              </a:rPr>
              <a:t>No real plants in class, so we photograph the next two slides with the app:</a:t>
            </a:r>
            <a:endParaRPr lang="en-US" sz="2000" dirty="0"/>
          </a:p>
        </p:txBody>
      </p:sp>
      <p:sp>
        <p:nvSpPr>
          <p:cNvPr id="5" name="Text 3"/>
          <p:cNvSpPr/>
          <p:nvPr/>
        </p:nvSpPr>
        <p:spPr>
          <a:xfrm>
            <a:off x="791210" y="3832861"/>
            <a:ext cx="10897362" cy="787400"/>
          </a:xfrm>
          <a:prstGeom prst="rect">
            <a:avLst/>
          </a:prstGeom>
          <a:noFill/>
          <a:ln/>
        </p:spPr>
        <p:txBody>
          <a:bodyPr wrap="square" lIns="0" tIns="0" rIns="0" bIns="0" rtlCol="0" anchor="t">
            <a:normAutofit/>
          </a:bodyPr>
          <a:lstStyle/>
          <a:p>
            <a:pPr algn="l" marL="275590" indent="-275590">
              <a:lnSpc>
                <a:spcPts val="3000"/>
              </a:lnSpc>
              <a:buSzPct val="100000"/>
              <a:buFontTx/>
              <a:buAutoNum type="arabicPeriod" startAt="1"/>
            </a:pPr>
            <a:r>
              <a:rPr lang="en-US" sz="2000" dirty="0">
                <a:solidFill>
                  <a:srgbClr val="2A1A08"/>
                </a:solidFill>
                <a:latin typeface="Nunito Sans" pitchFamily="34" charset="0"/>
                <a:ea typeface="Nunito Sans" pitchFamily="34" charset="-122"/>
                <a:cs typeface="Nunito Sans" pitchFamily="34" charset="-120"/>
              </a:rPr>
              <a:t>Giant hogweed → expected </a:t>
            </a:r>
            <a:r>
              <a:rPr lang="en-US" sz="2000" b="1" dirty="0">
                <a:solidFill>
                  <a:srgbClr val="2A1A08"/>
                </a:solidFill>
                <a:latin typeface="Nunito Sans" pitchFamily="34" charset="0"/>
                <a:ea typeface="Nunito Sans" pitchFamily="34" charset="-122"/>
                <a:cs typeface="Nunito Sans" pitchFamily="34" charset="-120"/>
              </a:rPr>
              <a:t>Invasive, do not touch</a:t>
            </a:r>
            <a:endParaRPr lang="en-US" sz="2000" dirty="0"/>
          </a:p>
          <a:p>
            <a:pPr algn="l" marL="275590" indent="-275590">
              <a:lnSpc>
                <a:spcPts val="3000"/>
              </a:lnSpc>
              <a:buSzPct val="100000"/>
              <a:buFontTx/>
              <a:buAutoNum type="arabicPeriod" startAt="1"/>
            </a:pPr>
            <a:r>
              <a:rPr lang="en-US" sz="2000" dirty="0">
                <a:solidFill>
                  <a:srgbClr val="2A1A08"/>
                </a:solidFill>
                <a:latin typeface="Nunito Sans" pitchFamily="34" charset="0"/>
                <a:ea typeface="Nunito Sans" pitchFamily="34" charset="-122"/>
                <a:cs typeface="Nunito Sans" pitchFamily="34" charset="-120"/>
              </a:rPr>
              <a:t>Common hogweed → expected </a:t>
            </a:r>
            <a:r>
              <a:rPr lang="en-US" sz="2000" b="1" dirty="0">
                <a:solidFill>
                  <a:srgbClr val="2A1A08"/>
                </a:solidFill>
                <a:latin typeface="Nunito Sans" pitchFamily="34" charset="0"/>
                <a:ea typeface="Nunito Sans" pitchFamily="34" charset="-122"/>
                <a:cs typeface="Nunito Sans" pitchFamily="34" charset="-120"/>
              </a:rPr>
              <a:t>Native</a:t>
            </a:r>
            <a:endParaRPr lang="en-US" sz="2000" dirty="0"/>
          </a:p>
        </p:txBody>
      </p:sp>
      <p:sp>
        <p:nvSpPr>
          <p:cNvPr id="6" name="Text 4"/>
          <p:cNvSpPr/>
          <p:nvPr/>
        </p:nvSpPr>
        <p:spPr>
          <a:xfrm>
            <a:off x="812800" y="57962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2C0C"/>
                </a:solidFill>
                <a:latin typeface="Nunito Sans" pitchFamily="34" charset="0"/>
                <a:ea typeface="Nunito Sans" pitchFamily="34" charset="-122"/>
                <a:cs typeface="Nunito Sans" pitchFamily="34" charset="-120"/>
              </a:rPr>
              <a:t>hackathon-7-u97t5prpmjnmzn3wttrzv9.streamlit.app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41C"/>
        </a:solidFill>
      </p:bgPr>
    </p:bg>
    <p:spTree>
      <p:nvGrpSpPr>
        <p:cNvPr id="1" name=""/>
        <p:cNvGrpSpPr/>
        <p:nvPr/>
      </p:nvGrpSpPr>
      <p:grpSpPr>
        <a:xfrm>
          <a:off x="0" y="0"/>
          <a:ext cx="0" cy="0"/>
          <a:chOff x="0" y="0"/>
          <a:chExt cx="0" cy="0"/>
        </a:xfrm>
      </p:grpSpPr>
      <p:pic>
        <p:nvPicPr>
          <p:cNvPr id="2" name="Image 0" descr="Giant hogweed in Wageningen: a tall plant with large white flower umbels and a purple-spotted stem">    </p:cNvPr>
          <p:cNvPicPr>
            <a:picLocks noChangeAspect="1"/>
          </p:cNvPicPr>
          <p:nvPr/>
        </p:nvPicPr>
        <p:blipFill>
          <a:blip r:embed="rId1"/>
          <a:srcRect l="-72780" r="-72780" t="0" b="0"/>
          <a:stretch/>
        </p:blipFill>
        <p:spPr>
          <a:xfrm>
            <a:off x="812800" y="368300"/>
            <a:ext cx="10566400" cy="5715000"/>
          </a:xfrm>
          <a:prstGeom prst="rect">
            <a:avLst/>
          </a:prstGeom>
        </p:spPr>
      </p:pic>
      <p:sp>
        <p:nvSpPr>
          <p:cNvPr id="3" name="Text 0"/>
          <p:cNvSpPr/>
          <p:nvPr/>
        </p:nvSpPr>
        <p:spPr>
          <a:xfrm>
            <a:off x="812800" y="63906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A6"/>
                </a:solidFill>
                <a:latin typeface="Nunito Sans" pitchFamily="34" charset="0"/>
                <a:ea typeface="Nunito Sans" pitchFamily="34" charset="-122"/>
                <a:cs typeface="Nunito Sans" pitchFamily="34" charset="-120"/>
              </a:rPr>
              <a:t>Demo photo 1 · Giant hogweed, Wageningen, 26 June 2025 · © giovanna, CC BY-NC · iNaturalist research grade, held-out test photo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41C"/>
        </a:solidFill>
      </p:bgPr>
    </p:bg>
    <p:spTree>
      <p:nvGrpSpPr>
        <p:cNvPr id="1" name=""/>
        <p:cNvGrpSpPr/>
        <p:nvPr/>
      </p:nvGrpSpPr>
      <p:grpSpPr>
        <a:xfrm>
          <a:off x="0" y="0"/>
          <a:ext cx="0" cy="0"/>
          <a:chOff x="0" y="0"/>
          <a:chExt cx="0" cy="0"/>
        </a:xfrm>
      </p:grpSpPr>
      <p:pic>
        <p:nvPicPr>
          <p:cNvPr id="2" name="Image 0" descr="Common hogweed in Alphen aan den Rijn: a single plant with white flower umbels in a sunny verge">    </p:cNvPr>
          <p:cNvPicPr>
            <a:picLocks noChangeAspect="1"/>
          </p:cNvPicPr>
          <p:nvPr/>
        </p:nvPicPr>
        <p:blipFill>
          <a:blip r:embed="rId1"/>
          <a:srcRect l="-19333" r="-19333" t="0" b="0"/>
          <a:stretch/>
        </p:blipFill>
        <p:spPr>
          <a:xfrm>
            <a:off x="812800" y="368300"/>
            <a:ext cx="10566400" cy="5715000"/>
          </a:xfrm>
          <a:prstGeom prst="rect">
            <a:avLst/>
          </a:prstGeom>
        </p:spPr>
      </p:pic>
      <p:sp>
        <p:nvSpPr>
          <p:cNvPr id="3" name="Text 0"/>
          <p:cNvSpPr/>
          <p:nvPr/>
        </p:nvSpPr>
        <p:spPr>
          <a:xfrm>
            <a:off x="812800" y="63906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A6"/>
                </a:solidFill>
                <a:latin typeface="Nunito Sans" pitchFamily="34" charset="0"/>
                <a:ea typeface="Nunito Sans" pitchFamily="34" charset="-122"/>
                <a:cs typeface="Nunito Sans" pitchFamily="34" charset="-120"/>
              </a:rPr>
              <a:t>Demo photo 2 · Common hogweed, Alphen aan den Rijn, 9 July 2023 · © Elvira de Lange, CC BY · iNaturalist research grade, held-out test photo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RESULTS</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Good overall, weakest exactly where it matters</a:t>
            </a:r>
            <a:endParaRPr lang="en-US" sz="3200" dirty="0"/>
          </a:p>
        </p:txBody>
      </p:sp>
      <p:sp>
        <p:nvSpPr>
          <p:cNvPr id="4" name="Text 2"/>
          <p:cNvSpPr/>
          <p:nvPr/>
        </p:nvSpPr>
        <p:spPr>
          <a:xfrm>
            <a:off x="812800" y="1899921"/>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Roboflow test split · 38 photos</a:t>
            </a:r>
            <a:endParaRPr lang="en-US" sz="1600" dirty="0"/>
          </a:p>
        </p:txBody>
      </p:sp>
      <p:sp>
        <p:nvSpPr>
          <p:cNvPr id="5" name="Shape 3"/>
          <p:cNvSpPr/>
          <p:nvPr/>
        </p:nvSpPr>
        <p:spPr>
          <a:xfrm>
            <a:off x="815975" y="2299333"/>
            <a:ext cx="1602317" cy="1119717"/>
          </a:xfrm>
          <a:prstGeom prst="roundRect">
            <a:avLst>
              <a:gd name="adj" fmla="val 8790"/>
            </a:avLst>
          </a:prstGeom>
          <a:solidFill>
            <a:srgbClr val="FFFDF7"/>
          </a:solidFill>
          <a:ln w="6350">
            <a:solidFill>
              <a:srgbClr val="DCD8C8"/>
            </a:solidFill>
            <a:prstDash val="solid"/>
          </a:ln>
        </p:spPr>
      </p:sp>
      <p:sp>
        <p:nvSpPr>
          <p:cNvPr id="6" name="Text 4"/>
          <p:cNvSpPr/>
          <p:nvPr/>
        </p:nvSpPr>
        <p:spPr>
          <a:xfrm>
            <a:off x="994833" y="2478193"/>
            <a:ext cx="1295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3B2D"/>
                </a:solidFill>
                <a:latin typeface="Domine" pitchFamily="18" charset="0"/>
                <a:ea typeface="Domine" pitchFamily="18" charset="-122"/>
                <a:cs typeface="Domine" pitchFamily="18" charset="-120"/>
              </a:rPr>
              <a:t>82.5%</a:t>
            </a:r>
            <a:endParaRPr lang="en-US" sz="2800" dirty="0"/>
          </a:p>
        </p:txBody>
      </p:sp>
      <p:sp>
        <p:nvSpPr>
          <p:cNvPr id="7" name="Text 5"/>
          <p:cNvSpPr/>
          <p:nvPr/>
        </p:nvSpPr>
        <p:spPr>
          <a:xfrm>
            <a:off x="994833" y="3026835"/>
            <a:ext cx="1295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A4A"/>
                </a:solidFill>
                <a:latin typeface="Nunito Sans" pitchFamily="34" charset="0"/>
                <a:ea typeface="Nunito Sans" pitchFamily="34" charset="-122"/>
                <a:cs typeface="Nunito Sans" pitchFamily="34" charset="-120"/>
              </a:rPr>
              <a:t>F1</a:t>
            </a:r>
            <a:endParaRPr lang="en-US" sz="1200" dirty="0"/>
          </a:p>
        </p:txBody>
      </p:sp>
      <p:sp>
        <p:nvSpPr>
          <p:cNvPr id="8" name="Shape 6"/>
          <p:cNvSpPr/>
          <p:nvPr/>
        </p:nvSpPr>
        <p:spPr>
          <a:xfrm>
            <a:off x="2577042" y="2299333"/>
            <a:ext cx="1602317" cy="1119717"/>
          </a:xfrm>
          <a:prstGeom prst="roundRect">
            <a:avLst>
              <a:gd name="adj" fmla="val 8790"/>
            </a:avLst>
          </a:prstGeom>
          <a:solidFill>
            <a:srgbClr val="FFFDF7"/>
          </a:solidFill>
          <a:ln w="6350">
            <a:solidFill>
              <a:srgbClr val="DCD8C8"/>
            </a:solidFill>
            <a:prstDash val="solid"/>
          </a:ln>
        </p:spPr>
      </p:sp>
      <p:sp>
        <p:nvSpPr>
          <p:cNvPr id="9" name="Text 7"/>
          <p:cNvSpPr/>
          <p:nvPr/>
        </p:nvSpPr>
        <p:spPr>
          <a:xfrm>
            <a:off x="2755900" y="2478193"/>
            <a:ext cx="1295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3B2D"/>
                </a:solidFill>
                <a:latin typeface="Domine" pitchFamily="18" charset="0"/>
                <a:ea typeface="Domine" pitchFamily="18" charset="-122"/>
                <a:cs typeface="Domine" pitchFamily="18" charset="-120"/>
              </a:rPr>
              <a:t>86.8%</a:t>
            </a:r>
            <a:endParaRPr lang="en-US" sz="2800" dirty="0"/>
          </a:p>
        </p:txBody>
      </p:sp>
      <p:sp>
        <p:nvSpPr>
          <p:cNvPr id="10" name="Text 8"/>
          <p:cNvSpPr/>
          <p:nvPr/>
        </p:nvSpPr>
        <p:spPr>
          <a:xfrm>
            <a:off x="2755900" y="3026835"/>
            <a:ext cx="1295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A4A"/>
                </a:solidFill>
                <a:latin typeface="Nunito Sans" pitchFamily="34" charset="0"/>
                <a:ea typeface="Nunito Sans" pitchFamily="34" charset="-122"/>
                <a:cs typeface="Nunito Sans" pitchFamily="34" charset="-120"/>
              </a:rPr>
              <a:t>precision</a:t>
            </a:r>
            <a:endParaRPr lang="en-US" sz="1200" dirty="0"/>
          </a:p>
        </p:txBody>
      </p:sp>
      <p:sp>
        <p:nvSpPr>
          <p:cNvPr id="11" name="Shape 9"/>
          <p:cNvSpPr/>
          <p:nvPr/>
        </p:nvSpPr>
        <p:spPr>
          <a:xfrm>
            <a:off x="4338108" y="2299333"/>
            <a:ext cx="1602317" cy="1119717"/>
          </a:xfrm>
          <a:prstGeom prst="roundRect">
            <a:avLst>
              <a:gd name="adj" fmla="val 8790"/>
            </a:avLst>
          </a:prstGeom>
          <a:solidFill>
            <a:srgbClr val="FFFDF7"/>
          </a:solidFill>
          <a:ln w="6350">
            <a:solidFill>
              <a:srgbClr val="DCD8C8"/>
            </a:solidFill>
            <a:prstDash val="solid"/>
          </a:ln>
        </p:spPr>
      </p:sp>
      <p:sp>
        <p:nvSpPr>
          <p:cNvPr id="12" name="Text 10"/>
          <p:cNvSpPr/>
          <p:nvPr/>
        </p:nvSpPr>
        <p:spPr>
          <a:xfrm>
            <a:off x="4516967" y="2478193"/>
            <a:ext cx="1295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3B2D"/>
                </a:solidFill>
                <a:latin typeface="Domine" pitchFamily="18" charset="0"/>
                <a:ea typeface="Domine" pitchFamily="18" charset="-122"/>
                <a:cs typeface="Domine" pitchFamily="18" charset="-120"/>
              </a:rPr>
              <a:t>81%</a:t>
            </a:r>
            <a:endParaRPr lang="en-US" sz="2800" dirty="0"/>
          </a:p>
        </p:txBody>
      </p:sp>
      <p:sp>
        <p:nvSpPr>
          <p:cNvPr id="13" name="Text 11"/>
          <p:cNvSpPr/>
          <p:nvPr/>
        </p:nvSpPr>
        <p:spPr>
          <a:xfrm>
            <a:off x="4516967" y="3026835"/>
            <a:ext cx="1295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A4A"/>
                </a:solidFill>
                <a:latin typeface="Nunito Sans" pitchFamily="34" charset="0"/>
                <a:ea typeface="Nunito Sans" pitchFamily="34" charset="-122"/>
                <a:cs typeface="Nunito Sans" pitchFamily="34" charset="-120"/>
              </a:rPr>
              <a:t>recall</a:t>
            </a:r>
            <a:endParaRPr lang="en-US" sz="1200" dirty="0"/>
          </a:p>
        </p:txBody>
      </p:sp>
      <p:sp>
        <p:nvSpPr>
          <p:cNvPr id="14" name="Text 12"/>
          <p:cNvSpPr/>
          <p:nvPr/>
        </p:nvSpPr>
        <p:spPr>
          <a:xfrm>
            <a:off x="812800" y="3574628"/>
            <a:ext cx="528472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5A4A"/>
                </a:solidFill>
                <a:latin typeface="Nunito Sans" pitchFamily="34" charset="0"/>
                <a:ea typeface="Nunito Sans" pitchFamily="34" charset="-122"/>
                <a:cs typeface="Nunito Sans" pitchFamily="34" charset="-120"/>
              </a:rPr>
              <a:t>Almost every mistake was hogweed against hogweed: </a:t>
            </a:r>
            <a:r>
              <a:rPr lang="en-US" sz="1400" b="1" dirty="0">
                <a:solidFill>
                  <a:srgbClr val="3D5A4A"/>
                </a:solidFill>
                <a:latin typeface="Nunito Sans" pitchFamily="34" charset="0"/>
                <a:ea typeface="Nunito Sans" pitchFamily="34" charset="-122"/>
                <a:cs typeface="Nunito Sans" pitchFamily="34" charset="-120"/>
              </a:rPr>
              <a:t>1 of 4 giant hogweeds was called common hogweed</a:t>
            </a:r>
            <a:r>
              <a:rPr lang="en-US" sz="1400" dirty="0">
                <a:solidFill>
                  <a:srgbClr val="3D5A4A"/>
                </a:solidFill>
                <a:latin typeface="Nunito Sans" pitchFamily="34" charset="0"/>
                <a:ea typeface="Nunito Sans" pitchFamily="34" charset="-122"/>
                <a:cs typeface="Nunito Sans" pitchFamily="34" charset="-120"/>
              </a:rPr>
              <a:t>. Roboflow picks this split at random, so scores may look better than they are.</a:t>
            </a:r>
            <a:endParaRPr lang="en-US" sz="1400" dirty="0"/>
          </a:p>
        </p:txBody>
      </p:sp>
      <p:sp>
        <p:nvSpPr>
          <p:cNvPr id="15" name="Text 13"/>
          <p:cNvSpPr/>
          <p:nvPr/>
        </p:nvSpPr>
        <p:spPr>
          <a:xfrm>
            <a:off x="6248400" y="1899921"/>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Our 80 held-out photos</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61100" y="2308858"/>
          <a:ext cx="5118100" cy="1930400"/>
        </p:xfrm>
        <a:graphic>
          <a:graphicData uri="http://schemas.openxmlformats.org/drawingml/2006/table">
            <a:tbl>
              <a:tblPr/>
              <a:tblGrid>
                <a:gridCol w="3582670"/>
                <a:gridCol w="1535430"/>
              </a:tblGrid>
              <a:tr h="386080">
                <a:tc>
                  <a:txBody>
                    <a:bodyPr/>
                    <a:lstStyle/>
                    <a:p>
                      <a:pPr indent="0" marL="0">
                        <a:lnSpc>
                          <a:spcPts val="1960"/>
                        </a:lnSpc>
                        <a:buNone/>
                      </a:pPr>
                      <a:r>
                        <a:rPr lang="en-US" sz="1400" b="1" dirty="0">
                          <a:solidFill>
                            <a:srgbClr val="1F3B2D"/>
                          </a:solidFill>
                          <a:latin typeface="Nunito Sans" pitchFamily="34" charset="0"/>
                          <a:ea typeface="Nunito Sans" pitchFamily="34" charset="-122"/>
                          <a:cs typeface="Nunito Sans" pitchFamily="34" charset="-120"/>
                        </a:rPr>
                        <a:t>With the app’s safety rules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algn="r" indent="0" marL="0">
                        <a:lnSpc>
                          <a:spcPts val="1960"/>
                        </a:lnSpc>
                        <a:buNone/>
                      </a:pPr>
                      <a:r>
                        <a:rPr lang="en-US" sz="1400" b="1" dirty="0">
                          <a:solidFill>
                            <a:srgbClr val="1F3B2D"/>
                          </a:solidFill>
                          <a:latin typeface="Nunito Sans" pitchFamily="34" charset="0"/>
                          <a:ea typeface="Nunito Sans" pitchFamily="34" charset="-122"/>
                          <a:cs typeface="Nunito Sans" pitchFamily="34" charset="-120"/>
                        </a:rPr>
                        <a:t>Result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r>
              <a:tr h="386080">
                <a:tc>
                  <a:txBody>
                    <a:bodyPr/>
                    <a:lstStyle/>
                    <a:p>
                      <a:pP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Species accuracy</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[__%]</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Giant hogweed warned about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[__] / 15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Invasive called “Native” (dangerous)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[__] / 35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False alarms on native plants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F3B2D"/>
                          </a:solidFill>
                          <a:latin typeface="Nunito Sans" pitchFamily="34" charset="0"/>
                          <a:ea typeface="Nunito Sans" pitchFamily="34" charset="-122"/>
                          <a:cs typeface="Nunito Sans" pitchFamily="34" charset="-120"/>
                        </a:rPr>
                        <a:t>[__] / 45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bl>
          </a:graphicData>
        </a:graphic>
      </p:graphicFrame>
      <p:sp>
        <p:nvSpPr>
          <p:cNvPr id="17" name="Text 14"/>
          <p:cNvSpPr/>
          <p:nvPr/>
        </p:nvSpPr>
        <p:spPr>
          <a:xfrm>
            <a:off x="6248400" y="4391658"/>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6E"/>
                </a:solidFill>
                <a:latin typeface="Nunito Sans" pitchFamily="34" charset="0"/>
                <a:ea typeface="Nunito Sans" pitchFamily="34" charset="-122"/>
                <a:cs typeface="Nunito Sans" pitchFamily="34" charset="-120"/>
              </a:rPr>
              <a:t>Other sightings and other photographers than the training photos: the stricter test.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601A"/>
                </a:solidFill>
                <a:latin typeface="Nunito Sans" pitchFamily="34" charset="0"/>
                <a:ea typeface="Nunito Sans" pitchFamily="34" charset="-122"/>
                <a:cs typeface="Nunito Sans" pitchFamily="34" charset="-120"/>
              </a:rPr>
              <a:t>DATA CARD · ETHICAL REFLECTION</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3B2D"/>
                </a:solidFill>
                <a:latin typeface="Domine" pitchFamily="18" charset="0"/>
                <a:ea typeface="Domine" pitchFamily="18" charset="-122"/>
                <a:cs typeface="Domine" pitchFamily="18" charset="-120"/>
              </a:rPr>
              <a:t>Where it can fail, and who pays for it</a:t>
            </a:r>
            <a:endParaRPr lang="en-US" sz="3200" dirty="0"/>
          </a:p>
        </p:txBody>
      </p:sp>
      <p:sp>
        <p:nvSpPr>
          <p:cNvPr id="4" name="Shape 2"/>
          <p:cNvSpPr/>
          <p:nvPr/>
        </p:nvSpPr>
        <p:spPr>
          <a:xfrm>
            <a:off x="812800" y="1899921"/>
            <a:ext cx="3386667" cy="2569210"/>
          </a:xfrm>
          <a:prstGeom prst="roundRect">
            <a:avLst>
              <a:gd name="adj" fmla="val 3955"/>
            </a:avLst>
          </a:prstGeom>
          <a:solidFill>
            <a:srgbClr val="F5F3EA"/>
          </a:solidFill>
          <a:ln/>
        </p:spPr>
      </p:sp>
      <p:sp>
        <p:nvSpPr>
          <p:cNvPr id="5" name="Text 3"/>
          <p:cNvSpPr/>
          <p:nvPr/>
        </p:nvSpPr>
        <p:spPr>
          <a:xfrm>
            <a:off x="1066800" y="2153921"/>
            <a:ext cx="2965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Gaps in the data</a:t>
            </a:r>
            <a:endParaRPr lang="en-US" sz="1600" dirty="0"/>
          </a:p>
        </p:txBody>
      </p:sp>
      <p:sp>
        <p:nvSpPr>
          <p:cNvPr id="6" name="Text 4"/>
          <p:cNvSpPr/>
          <p:nvPr/>
        </p:nvSpPr>
        <p:spPr>
          <a:xfrm>
            <a:off x="1066800" y="2524758"/>
            <a:ext cx="2965027"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5A4A"/>
                </a:solidFill>
                <a:latin typeface="Nunito Sans" pitchFamily="34" charset="0"/>
                <a:ea typeface="Nunito Sans" pitchFamily="34" charset="-122"/>
                <a:cs typeface="Nunito Sans" pitchFamily="34" charset="-120"/>
              </a:rPr>
              <a:t>Mostly sharp summer photos in flower. Autumn and winter: only 19% for giant hogweed, 3% for bindweed, 9% for loosestrife.</a:t>
            </a:r>
            <a:endParaRPr lang="en-US" sz="1300" dirty="0"/>
          </a:p>
        </p:txBody>
      </p:sp>
      <p:sp>
        <p:nvSpPr>
          <p:cNvPr id="7" name="Text 5"/>
          <p:cNvSpPr/>
          <p:nvPr/>
        </p:nvSpPr>
        <p:spPr>
          <a:xfrm>
            <a:off x="1066800" y="3609342"/>
            <a:ext cx="296502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5A4A"/>
                </a:solidFill>
                <a:latin typeface="Nunito Sans" pitchFamily="34" charset="0"/>
                <a:ea typeface="Nunito Sans" pitchFamily="34" charset="-122"/>
                <a:cs typeface="Nunito Sans" pitchFamily="34" charset="-120"/>
              </a:rPr>
              <a:t>Photos cluster around popular places; labels come from community votes.</a:t>
            </a:r>
            <a:endParaRPr lang="en-US" sz="1300" dirty="0"/>
          </a:p>
        </p:txBody>
      </p:sp>
      <p:sp>
        <p:nvSpPr>
          <p:cNvPr id="8" name="Shape 6"/>
          <p:cNvSpPr/>
          <p:nvPr/>
        </p:nvSpPr>
        <p:spPr>
          <a:xfrm>
            <a:off x="4402667" y="1899921"/>
            <a:ext cx="3386667" cy="2569210"/>
          </a:xfrm>
          <a:prstGeom prst="roundRect">
            <a:avLst>
              <a:gd name="adj" fmla="val 3955"/>
            </a:avLst>
          </a:prstGeom>
          <a:solidFill>
            <a:srgbClr val="F5F3EA"/>
          </a:solidFill>
          <a:ln/>
        </p:spPr>
      </p:sp>
      <p:sp>
        <p:nvSpPr>
          <p:cNvPr id="9" name="Text 7"/>
          <p:cNvSpPr/>
          <p:nvPr/>
        </p:nvSpPr>
        <p:spPr>
          <a:xfrm>
            <a:off x="4656667" y="2153921"/>
            <a:ext cx="2965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3B2D"/>
                </a:solidFill>
                <a:latin typeface="Nunito Sans" pitchFamily="34" charset="0"/>
                <a:ea typeface="Nunito Sans" pitchFamily="34" charset="-122"/>
                <a:cs typeface="Nunito Sans" pitchFamily="34" charset="-120"/>
              </a:rPr>
              <a:t>What could go wrong</a:t>
            </a:r>
            <a:endParaRPr lang="en-US" sz="1600" dirty="0"/>
          </a:p>
        </p:txBody>
      </p:sp>
      <p:sp>
        <p:nvSpPr>
          <p:cNvPr id="10" name="Text 8"/>
          <p:cNvSpPr/>
          <p:nvPr/>
        </p:nvSpPr>
        <p:spPr>
          <a:xfrm>
            <a:off x="4656667" y="2524758"/>
            <a:ext cx="2965027"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3D5A4A"/>
                </a:solidFill>
                <a:latin typeface="Nunito Sans" pitchFamily="34" charset="0"/>
                <a:ea typeface="Nunito Sans" pitchFamily="34" charset="-122"/>
                <a:cs typeface="Nunito Sans" pitchFamily="34" charset="-120"/>
              </a:rPr>
              <a:t>Giant hogweed called “Native”:</a:t>
            </a:r>
            <a:r>
              <a:rPr lang="en-US" sz="1300" dirty="0">
                <a:solidFill>
                  <a:srgbClr val="3D5A4A"/>
                </a:solidFill>
                <a:latin typeface="Nunito Sans" pitchFamily="34" charset="0"/>
                <a:ea typeface="Nunito Sans" pitchFamily="34" charset="-122"/>
                <a:cs typeface="Nunito Sans" pitchFamily="34" charset="-120"/>
              </a:rPr>
              <a:t> someone touches it and gets burned.</a:t>
            </a:r>
            <a:endParaRPr lang="en-US" sz="1300" dirty="0"/>
          </a:p>
        </p:txBody>
      </p:sp>
      <p:sp>
        <p:nvSpPr>
          <p:cNvPr id="11" name="Text 9"/>
          <p:cNvSpPr/>
          <p:nvPr/>
        </p:nvSpPr>
        <p:spPr>
          <a:xfrm>
            <a:off x="4656667" y="3130550"/>
            <a:ext cx="2965027"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3D5A4A"/>
                </a:solidFill>
                <a:latin typeface="Nunito Sans" pitchFamily="34" charset="0"/>
                <a:ea typeface="Nunito Sans" pitchFamily="34" charset="-122"/>
                <a:cs typeface="Nunito Sans" pitchFamily="34" charset="-120"/>
              </a:rPr>
              <a:t>Any other plant</a:t>
            </a:r>
            <a:r>
              <a:rPr lang="en-US" sz="1300" dirty="0">
                <a:solidFill>
                  <a:srgbClr val="3D5A4A"/>
                </a:solidFill>
                <a:latin typeface="Nunito Sans" pitchFamily="34" charset="0"/>
                <a:ea typeface="Nunito Sans" pitchFamily="34" charset="-122"/>
                <a:cs typeface="Nunito Sans" pitchFamily="34" charset="-120"/>
              </a:rPr>
              <a:t> is forced into one of the 7, e.g. poisonous hemlock.</a:t>
            </a:r>
            <a:endParaRPr lang="en-US" sz="1300" dirty="0"/>
          </a:p>
        </p:txBody>
      </p:sp>
      <p:sp>
        <p:nvSpPr>
          <p:cNvPr id="12" name="Text 10"/>
          <p:cNvSpPr/>
          <p:nvPr/>
        </p:nvSpPr>
        <p:spPr>
          <a:xfrm>
            <a:off x="4656667" y="3736342"/>
            <a:ext cx="2965027"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3D5A4A"/>
                </a:solidFill>
                <a:latin typeface="Nunito Sans" pitchFamily="34" charset="0"/>
                <a:ea typeface="Nunito Sans" pitchFamily="34" charset="-122"/>
                <a:cs typeface="Nunito Sans" pitchFamily="34" charset="-120"/>
              </a:rPr>
              <a:t>Over-trust:</a:t>
            </a:r>
            <a:r>
              <a:rPr lang="en-US" sz="1300" dirty="0">
                <a:solidFill>
                  <a:srgbClr val="3D5A4A"/>
                </a:solidFill>
                <a:latin typeface="Nunito Sans" pitchFamily="34" charset="0"/>
                <a:ea typeface="Nunito Sans" pitchFamily="34" charset="-122"/>
                <a:cs typeface="Nunito Sans" pitchFamily="34" charset="-120"/>
              </a:rPr>
              <a:t> cutting knotweed spreads it.</a:t>
            </a:r>
            <a:endParaRPr lang="en-US" sz="1300" dirty="0"/>
          </a:p>
        </p:txBody>
      </p:sp>
      <p:sp>
        <p:nvSpPr>
          <p:cNvPr id="13" name="Shape 11"/>
          <p:cNvSpPr/>
          <p:nvPr/>
        </p:nvSpPr>
        <p:spPr>
          <a:xfrm>
            <a:off x="7992533" y="1899921"/>
            <a:ext cx="3386667" cy="2569210"/>
          </a:xfrm>
          <a:prstGeom prst="roundRect">
            <a:avLst>
              <a:gd name="adj" fmla="val 3955"/>
            </a:avLst>
          </a:prstGeom>
          <a:solidFill>
            <a:srgbClr val="1F3B2D"/>
          </a:solidFill>
          <a:ln/>
        </p:spPr>
      </p:sp>
      <p:sp>
        <p:nvSpPr>
          <p:cNvPr id="14" name="Text 12"/>
          <p:cNvSpPr/>
          <p:nvPr/>
        </p:nvSpPr>
        <p:spPr>
          <a:xfrm>
            <a:off x="8246533" y="2153921"/>
            <a:ext cx="2965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A84A"/>
                </a:solidFill>
                <a:latin typeface="Nunito Sans" pitchFamily="34" charset="0"/>
                <a:ea typeface="Nunito Sans" pitchFamily="34" charset="-122"/>
                <a:cs typeface="Nunito Sans" pitchFamily="34" charset="-120"/>
              </a:rPr>
              <a:t>What we did</a:t>
            </a:r>
            <a:endParaRPr lang="en-US" sz="1600" dirty="0"/>
          </a:p>
        </p:txBody>
      </p:sp>
      <p:sp>
        <p:nvSpPr>
          <p:cNvPr id="15" name="Text 13"/>
          <p:cNvSpPr/>
          <p:nvPr/>
        </p:nvSpPr>
        <p:spPr>
          <a:xfrm>
            <a:off x="8246533" y="2524758"/>
            <a:ext cx="296502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CE6DE"/>
                </a:solidFill>
                <a:latin typeface="Nunito Sans" pitchFamily="34" charset="0"/>
                <a:ea typeface="Nunito Sans" pitchFamily="34" charset="-122"/>
                <a:cs typeface="Nunito Sans" pitchFamily="34" charset="-120"/>
              </a:rPr>
              <a:t>70% “unsure” rule and 20% giant hogweed warning</a:t>
            </a:r>
            <a:endParaRPr lang="en-US" sz="1300" dirty="0"/>
          </a:p>
        </p:txBody>
      </p:sp>
      <p:sp>
        <p:nvSpPr>
          <p:cNvPr id="16" name="Text 14"/>
          <p:cNvSpPr/>
          <p:nvPr/>
        </p:nvSpPr>
        <p:spPr>
          <a:xfrm>
            <a:off x="8246533" y="3130550"/>
            <a:ext cx="2965027"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CE6DE"/>
                </a:solidFill>
                <a:latin typeface="Nunito Sans" pitchFamily="34" charset="0"/>
                <a:ea typeface="Nunito Sans" pitchFamily="34" charset="-122"/>
                <a:cs typeface="Nunito Sans" pitchFamily="34" charset="-120"/>
              </a:rPr>
              <a:t>A strict held-out test set</a:t>
            </a:r>
            <a:endParaRPr lang="en-US" sz="1300" dirty="0"/>
          </a:p>
        </p:txBody>
      </p:sp>
      <p:sp>
        <p:nvSpPr>
          <p:cNvPr id="17" name="Text 15"/>
          <p:cNvSpPr/>
          <p:nvPr/>
        </p:nvSpPr>
        <p:spPr>
          <a:xfrm>
            <a:off x="8246533" y="3496946"/>
            <a:ext cx="296502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CE6DE"/>
                </a:solidFill>
                <a:latin typeface="Nunito Sans" pitchFamily="34" charset="0"/>
                <a:ea typeface="Nunito Sans" pitchFamily="34" charset="-122"/>
                <a:cs typeface="Nunito Sans" pitchFamily="34" charset="-120"/>
              </a:rPr>
              <a:t>Every invasive or unsure result goes to Waarneming.nl, where an expert confirms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84A"/>
                </a:solidFill>
                <a:latin typeface="Nunito Sans" pitchFamily="34" charset="0"/>
                <a:ea typeface="Nunito Sans" pitchFamily="34" charset="-122"/>
                <a:cs typeface="Nunito Sans" pitchFamily="34" charset="-120"/>
              </a:rPr>
              <a:t>WHAT WE LEARNED</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3EA"/>
                </a:solidFill>
                <a:latin typeface="Domine" pitchFamily="18" charset="0"/>
                <a:ea typeface="Domine" pitchFamily="18" charset="-122"/>
                <a:cs typeface="Domine" pitchFamily="18" charset="-120"/>
              </a:rPr>
              <a:t>The model was the easy part</a:t>
            </a:r>
            <a:endParaRPr lang="en-US" sz="3200" dirty="0"/>
          </a:p>
        </p:txBody>
      </p:sp>
      <p:sp>
        <p:nvSpPr>
          <p:cNvPr id="4" name="Text 2"/>
          <p:cNvSpPr/>
          <p:nvPr/>
        </p:nvSpPr>
        <p:spPr>
          <a:xfrm>
            <a:off x="812800" y="1950721"/>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A84A"/>
                </a:solidFill>
                <a:latin typeface="Nunito Sans" pitchFamily="34" charset="0"/>
                <a:ea typeface="Nunito Sans" pitchFamily="34" charset="-122"/>
                <a:cs typeface="Nunito Sans" pitchFamily="34" charset="-120"/>
              </a:rPr>
              <a:t>Choose the right labels</a:t>
            </a:r>
            <a:endParaRPr lang="en-US" sz="1600" dirty="0"/>
          </a:p>
        </p:txBody>
      </p:sp>
      <p:sp>
        <p:nvSpPr>
          <p:cNvPr id="5" name="Text 3"/>
          <p:cNvSpPr/>
          <p:nvPr/>
        </p:nvSpPr>
        <p:spPr>
          <a:xfrm>
            <a:off x="812800" y="2270758"/>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CE6DE"/>
                </a:solidFill>
                <a:latin typeface="Nunito Sans" pitchFamily="34" charset="0"/>
                <a:ea typeface="Nunito Sans" pitchFamily="34" charset="-122"/>
                <a:cs typeface="Nunito Sans" pitchFamily="34" charset="-120"/>
              </a:rPr>
              <a:t>Train on species, then map to invasive or native. “Invasive” is not something a camera can see.</a:t>
            </a:r>
            <a:endParaRPr lang="en-US" sz="1400" dirty="0"/>
          </a:p>
        </p:txBody>
      </p:sp>
      <p:sp>
        <p:nvSpPr>
          <p:cNvPr id="6" name="Text 4"/>
          <p:cNvSpPr/>
          <p:nvPr/>
        </p:nvSpPr>
        <p:spPr>
          <a:xfrm>
            <a:off x="6299200" y="1950721"/>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A84A"/>
                </a:solidFill>
                <a:latin typeface="Nunito Sans" pitchFamily="34" charset="0"/>
                <a:ea typeface="Nunito Sans" pitchFamily="34" charset="-122"/>
                <a:cs typeface="Nunito Sans" pitchFamily="34" charset="-120"/>
              </a:rPr>
              <a:t>Mistakes are not equal</a:t>
            </a:r>
            <a:endParaRPr lang="en-US" sz="1600" dirty="0"/>
          </a:p>
        </p:txBody>
      </p:sp>
      <p:sp>
        <p:nvSpPr>
          <p:cNvPr id="7" name="Text 5"/>
          <p:cNvSpPr/>
          <p:nvPr/>
        </p:nvSpPr>
        <p:spPr>
          <a:xfrm>
            <a:off x="6299200" y="2270758"/>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CE6DE"/>
                </a:solidFill>
                <a:latin typeface="Nunito Sans" pitchFamily="34" charset="0"/>
                <a:ea typeface="Nunito Sans" pitchFamily="34" charset="-122"/>
                <a:cs typeface="Nunito Sans" pitchFamily="34" charset="-120"/>
              </a:rPr>
              <a:t>A missed giant hogweed is worse than a false alarm, so the app gets safety rules, not just a top answer.</a:t>
            </a:r>
            <a:endParaRPr lang="en-US" sz="1400" dirty="0"/>
          </a:p>
        </p:txBody>
      </p:sp>
      <p:sp>
        <p:nvSpPr>
          <p:cNvPr id="8" name="Text 6"/>
          <p:cNvSpPr/>
          <p:nvPr/>
        </p:nvSpPr>
        <p:spPr>
          <a:xfrm>
            <a:off x="812800" y="3040379"/>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A84A"/>
                </a:solidFill>
                <a:latin typeface="Nunito Sans" pitchFamily="34" charset="0"/>
                <a:ea typeface="Nunito Sans" pitchFamily="34" charset="-122"/>
                <a:cs typeface="Nunito Sans" pitchFamily="34" charset="-120"/>
              </a:rPr>
              <a:t>Online data has a season</a:t>
            </a:r>
            <a:endParaRPr lang="en-US" sz="1600" dirty="0"/>
          </a:p>
        </p:txBody>
      </p:sp>
      <p:sp>
        <p:nvSpPr>
          <p:cNvPr id="9" name="Text 7"/>
          <p:cNvSpPr/>
          <p:nvPr/>
        </p:nvSpPr>
        <p:spPr>
          <a:xfrm>
            <a:off x="812800" y="3360421"/>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CE6DE"/>
                </a:solidFill>
                <a:latin typeface="Nunito Sans" pitchFamily="34" charset="0"/>
                <a:ea typeface="Nunito Sans" pitchFamily="34" charset="-122"/>
                <a:cs typeface="Nunito Sans" pitchFamily="34" charset="-120"/>
              </a:rPr>
              <a:t>Scraped photos are sunny summer shots. Real users also photograph dead stems in October.</a:t>
            </a:r>
            <a:endParaRPr lang="en-US" sz="1400" dirty="0"/>
          </a:p>
        </p:txBody>
      </p:sp>
      <p:sp>
        <p:nvSpPr>
          <p:cNvPr id="10" name="Text 8"/>
          <p:cNvSpPr/>
          <p:nvPr/>
        </p:nvSpPr>
        <p:spPr>
          <a:xfrm>
            <a:off x="6299200" y="3040379"/>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9A84A"/>
                </a:solidFill>
                <a:latin typeface="Nunito Sans" pitchFamily="34" charset="0"/>
                <a:ea typeface="Nunito Sans" pitchFamily="34" charset="-122"/>
                <a:cs typeface="Nunito Sans" pitchFamily="34" charset="-120"/>
              </a:rPr>
              <a:t>Augment with care</a:t>
            </a:r>
            <a:endParaRPr lang="en-US" sz="1600" dirty="0"/>
          </a:p>
        </p:txBody>
      </p:sp>
      <p:sp>
        <p:nvSpPr>
          <p:cNvPr id="11" name="Text 9"/>
          <p:cNvSpPr/>
          <p:nvPr/>
        </p:nvSpPr>
        <p:spPr>
          <a:xfrm>
            <a:off x="6299200" y="3360421"/>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CE6DE"/>
                </a:solidFill>
                <a:latin typeface="Nunito Sans" pitchFamily="34" charset="0"/>
                <a:ea typeface="Nunito Sans" pitchFamily="34" charset="-122"/>
                <a:cs typeface="Nunito Sans" pitchFamily="34" charset="-120"/>
              </a:rPr>
              <a:t>No grayscale or 90° rotation: colour and orientation are real clues for these plants.</a:t>
            </a:r>
            <a:endParaRPr lang="en-US" sz="1400" dirty="0"/>
          </a:p>
        </p:txBody>
      </p:sp>
    </p:spTree>
  </p:cSld>
  <p:clrMapOvr>
    <a:masterClrMapping/>
  </p:clrMapOvr>
</p:sld>
</file>

<file path=ppt/theme/theme1.xml><?xml version="1.0" encoding="utf-8"?>
<a:theme xmlns:a="http://schemas.openxmlformats.org/drawingml/2006/main" name="Invasive or Native? – Hackathon 7">
  <a:themeElements>
    <a:clrScheme name="Invasive or Native? – Hackathon 7">
      <a:dk1>
        <a:srgbClr val="1F3B2D"/>
      </a:dk1>
      <a:lt1>
        <a:srgbClr val="F5F3EA"/>
      </a:lt1>
      <a:dk2>
        <a:srgbClr val="55695C"/>
      </a:dk2>
      <a:lt2>
        <a:srgbClr val="E0E1D7"/>
      </a:lt2>
      <a:accent1>
        <a:srgbClr val="E9A84A"/>
      </a:accent1>
      <a:accent2>
        <a:srgbClr val="A9601A"/>
      </a:accent2>
      <a:accent3>
        <a:srgbClr val="4A2C0C"/>
      </a:accent3>
      <a:accent4>
        <a:srgbClr val="F3DFC2"/>
      </a:accent4>
      <a:accent5>
        <a:srgbClr val="3A2410"/>
      </a:accent5>
      <a:accent6>
        <a:srgbClr val="3D5A4A"/>
      </a:accent6>
      <a:hlink>
        <a:srgbClr val="0563C1"/>
      </a:hlink>
      <a:folHlink>
        <a:srgbClr val="954F72"/>
      </a:folHlink>
    </a:clrScheme>
    <a:fontScheme name="Invasive or Native? – Hackathon 7">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Invasive or Native? – Hackathon 7</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2026-10-29T17:16:40Z</dcterms:created>
  <dcterms:modified xsi:type="dcterms:W3CDTF">2026-10-29T17:16:40Z</dcterms:modified>
</cp:coreProperties>
</file>